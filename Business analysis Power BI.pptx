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76" r:id="rId6"/>
    <p:sldId id="270" r:id="rId7"/>
    <p:sldId id="262" r:id="rId8"/>
    <p:sldId id="274" r:id="rId9"/>
    <p:sldId id="266" r:id="rId10"/>
    <p:sldId id="271" r:id="rId11"/>
    <p:sldId id="273" r:id="rId12"/>
    <p:sldId id="269" r:id="rId13"/>
    <p:sldId id="272" r:id="rId14"/>
    <p:sldId id="275" r:id="rId15"/>
    <p:sldId id="2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875" autoAdjust="0"/>
  </p:normalViewPr>
  <p:slideViewPr>
    <p:cSldViewPr snapToGrid="0">
      <p:cViewPr varScale="1">
        <p:scale>
          <a:sx n="51" d="100"/>
          <a:sy n="51" d="100"/>
        </p:scale>
        <p:origin x="118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CECA3A-0B8E-4153-9B97-08675F328AC3}" type="datetimeFigureOut">
              <a:rPr lang="en-SG" smtClean="0"/>
              <a:t>12/11/2025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6DBF98-137E-42BA-A19C-2D26CD95E849}" type="slidenum">
              <a:rPr lang="en-SG" smtClean="0"/>
              <a:t>‹#›</a:t>
            </a:fld>
            <a:endParaRPr lang="en-SG"/>
          </a:p>
        </p:txBody>
      </p:sp>
    </p:spTree>
    <p:extLst>
      <p:ext uri="{BB962C8B-B14F-4D97-AF65-F5344CB8AC3E}">
        <p14:creationId xmlns:p14="http://schemas.microsoft.com/office/powerpoint/2010/main" val="906328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3</a:t>
            </a:fld>
            <a:endParaRPr lang="en-SG"/>
          </a:p>
        </p:txBody>
      </p:sp>
    </p:spTree>
    <p:extLst>
      <p:ext uri="{BB962C8B-B14F-4D97-AF65-F5344CB8AC3E}">
        <p14:creationId xmlns:p14="http://schemas.microsoft.com/office/powerpoint/2010/main" val="317603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dashboard provides a single interactive view of all key business metrics — from customer profiles to product sales and discount performance.</a:t>
            </a:r>
            <a:br>
              <a:rPr lang="en-SG" dirty="0"/>
            </a:br>
            <a:r>
              <a:rPr lang="en-SG" dirty="0"/>
              <a:t>It enables decision-makers to identify growth drivers, evaluate profitability across regions, and optimize pricing and marketing strategies.</a:t>
            </a:r>
            <a:br>
              <a:rPr lang="en-SG" dirty="0"/>
            </a:br>
            <a:r>
              <a:rPr lang="en-SG" dirty="0"/>
              <a:t>Each visualization was designed to provide clarity and actionable insights, aligning directly with the project objectives.</a:t>
            </a:r>
          </a:p>
        </p:txBody>
      </p:sp>
      <p:sp>
        <p:nvSpPr>
          <p:cNvPr id="4" name="Slide Number Placeholder 3"/>
          <p:cNvSpPr>
            <a:spLocks noGrp="1"/>
          </p:cNvSpPr>
          <p:nvPr>
            <p:ph type="sldNum" sz="quarter" idx="5"/>
          </p:nvPr>
        </p:nvSpPr>
        <p:spPr/>
        <p:txBody>
          <a:bodyPr/>
          <a:lstStyle/>
          <a:p>
            <a:fld id="{506DBF98-137E-42BA-A19C-2D26CD95E849}" type="slidenum">
              <a:rPr lang="en-SG" smtClean="0"/>
              <a:t>4</a:t>
            </a:fld>
            <a:endParaRPr lang="en-SG"/>
          </a:p>
        </p:txBody>
      </p:sp>
    </p:spTree>
    <p:extLst>
      <p:ext uri="{BB962C8B-B14F-4D97-AF65-F5344CB8AC3E}">
        <p14:creationId xmlns:p14="http://schemas.microsoft.com/office/powerpoint/2010/main" val="2324011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study began by integrating all key datasets — </a:t>
            </a:r>
            <a:r>
              <a:rPr lang="en-US" altLang="zh-CN" dirty="0"/>
              <a:t>purchase and</a:t>
            </a:r>
            <a:r>
              <a:rPr lang="en-SG" dirty="0"/>
              <a:t> customer  — into one reliable model.</a:t>
            </a:r>
            <a:br>
              <a:rPr lang="en-SG" dirty="0"/>
            </a:br>
            <a:r>
              <a:rPr lang="en-SG" dirty="0"/>
              <a:t>Data was cleaned and standardized to maintain consistency and avoid duplication.</a:t>
            </a:r>
            <a:br>
              <a:rPr lang="en-SG" dirty="0"/>
            </a:br>
            <a:r>
              <a:rPr lang="en-SG" dirty="0"/>
              <a:t>Customers were then segmented into low, mid, and high-value groups based on total spend and order frequency.</a:t>
            </a:r>
            <a:br>
              <a:rPr lang="en-SG" dirty="0"/>
            </a:br>
            <a:r>
              <a:rPr lang="en-SG" dirty="0"/>
              <a:t>Finally, relationships between the merge, date, and </a:t>
            </a:r>
            <a:r>
              <a:rPr lang="en-SG" dirty="0" err="1"/>
              <a:t>orderpercustomer</a:t>
            </a:r>
            <a:r>
              <a:rPr lang="en-SG" dirty="0"/>
              <a:t> tables enabled time-based and behavioural insights across the dashboard.</a:t>
            </a:r>
          </a:p>
        </p:txBody>
      </p:sp>
      <p:sp>
        <p:nvSpPr>
          <p:cNvPr id="4" name="Slide Number Placeholder 3"/>
          <p:cNvSpPr>
            <a:spLocks noGrp="1"/>
          </p:cNvSpPr>
          <p:nvPr>
            <p:ph type="sldNum" sz="quarter" idx="5"/>
          </p:nvPr>
        </p:nvSpPr>
        <p:spPr/>
        <p:txBody>
          <a:bodyPr/>
          <a:lstStyle/>
          <a:p>
            <a:fld id="{506DBF98-137E-42BA-A19C-2D26CD95E849}" type="slidenum">
              <a:rPr lang="en-SG" smtClean="0"/>
              <a:t>5</a:t>
            </a:fld>
            <a:endParaRPr lang="en-SG"/>
          </a:p>
        </p:txBody>
      </p:sp>
    </p:spTree>
    <p:extLst>
      <p:ext uri="{BB962C8B-B14F-4D97-AF65-F5344CB8AC3E}">
        <p14:creationId xmlns:p14="http://schemas.microsoft.com/office/powerpoint/2010/main" val="528672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8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If a manager wants to plan a campaign in Colombia. She can simply select 'Colombia’ at slicer. Instantly, the dashboard updates to show her the top-selling products, similarly, by multi select order months, she will notice the order pattern across the year.</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This Power BI can be scalable so that when new sales data comes in each month, you just click the 'Refresh' button and the entire dashboard will update accordingly. It's designed to stay relevant and useful for years to come</a:t>
            </a:r>
            <a:endParaRPr lang="en-SG" dirty="0"/>
          </a:p>
          <a:p>
            <a:br>
              <a:rPr lang="en-SG" dirty="0"/>
            </a:br>
            <a:r>
              <a:rPr lang="en-SG" dirty="0"/>
              <a:t>we notice that high income group has the highest average order value, where low income group customer has higher average order value than the mid income group</a:t>
            </a:r>
          </a:p>
        </p:txBody>
      </p:sp>
      <p:sp>
        <p:nvSpPr>
          <p:cNvPr id="4" name="Slide Number Placeholder 3"/>
          <p:cNvSpPr>
            <a:spLocks noGrp="1"/>
          </p:cNvSpPr>
          <p:nvPr>
            <p:ph type="sldNum" sz="quarter" idx="5"/>
          </p:nvPr>
        </p:nvSpPr>
        <p:spPr/>
        <p:txBody>
          <a:bodyPr/>
          <a:lstStyle/>
          <a:p>
            <a:fld id="{506DBF98-137E-42BA-A19C-2D26CD95E849}" type="slidenum">
              <a:rPr lang="en-SG" smtClean="0"/>
              <a:t>6</a:t>
            </a:fld>
            <a:endParaRPr lang="en-SG"/>
          </a:p>
        </p:txBody>
      </p:sp>
    </p:spTree>
    <p:extLst>
      <p:ext uri="{BB962C8B-B14F-4D97-AF65-F5344CB8AC3E}">
        <p14:creationId xmlns:p14="http://schemas.microsoft.com/office/powerpoint/2010/main" val="3395746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chart highlights a clear revenue growth pattern with recurring Q4 peaks, reflecting seasonal buying </a:t>
            </a:r>
            <a:r>
              <a:rPr lang="en-SG" dirty="0" err="1"/>
              <a:t>behavior</a:t>
            </a:r>
            <a:r>
              <a:rPr lang="en-SG" dirty="0"/>
              <a:t>.</a:t>
            </a:r>
            <a:r>
              <a:rPr lang="en-SG" b="1" dirty="0"/>
              <a:t> </a:t>
            </a:r>
          </a:p>
          <a:p>
            <a:endParaRPr lang="en-SG"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b="1" dirty="0"/>
              <a:t>Low-income (1</a:t>
            </a:r>
            <a:r>
              <a:rPr lang="en-US" altLang="zh-CN" b="1" dirty="0" err="1"/>
              <a:t>st</a:t>
            </a:r>
            <a:r>
              <a:rPr lang="en-SG" b="1" dirty="0"/>
              <a:t> chart):</a:t>
            </a:r>
            <a:r>
              <a:rPr lang="en-SG" dirty="0"/>
              <a:t> revenue shows </a:t>
            </a:r>
            <a:r>
              <a:rPr lang="en-SG" b="1" dirty="0"/>
              <a:t>deeper troughs and sharper peaks</a:t>
            </a:r>
            <a:r>
              <a:rPr lang="en-SG" dirty="0"/>
              <a:t> (bigger amplitude). That pattern typically means </a:t>
            </a:r>
            <a:r>
              <a:rPr lang="en-SG" b="1" dirty="0"/>
              <a:t>infrequent purchases batched into bigger orders</a:t>
            </a:r>
            <a:r>
              <a:rPr lang="en-SG" dirty="0"/>
              <a:t> (e.g., promo months, bundle buys).</a:t>
            </a:r>
          </a:p>
          <a:p>
            <a:endParaRPr lang="en-SG" b="1" dirty="0"/>
          </a:p>
          <a:p>
            <a:r>
              <a:rPr lang="en-SG" b="1" dirty="0"/>
              <a:t>Mid-income (2nd chart):</a:t>
            </a:r>
            <a:r>
              <a:rPr lang="en-SG" dirty="0"/>
              <a:t> revenue is </a:t>
            </a:r>
            <a:r>
              <a:rPr lang="en-SG" b="1" dirty="0"/>
              <a:t>steady</a:t>
            </a:r>
            <a:r>
              <a:rPr lang="en-SG" dirty="0"/>
              <a:t> month-to-month with mild seasonality. This pattern usually comes from </a:t>
            </a:r>
            <a:r>
              <a:rPr lang="en-SG" b="1" dirty="0"/>
              <a:t>more frequent, smaller baskets</a:t>
            </a:r>
            <a:r>
              <a:rPr lang="en-SG" dirty="0"/>
              <a:t>.</a:t>
            </a:r>
          </a:p>
          <a:p>
            <a:endParaRPr lang="en-SG" dirty="0"/>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7</a:t>
            </a:fld>
            <a:endParaRPr lang="en-SG"/>
          </a:p>
        </p:txBody>
      </p:sp>
    </p:spTree>
    <p:extLst>
      <p:ext uri="{BB962C8B-B14F-4D97-AF65-F5344CB8AC3E}">
        <p14:creationId xmlns:p14="http://schemas.microsoft.com/office/powerpoint/2010/main" val="234107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SG" b="0" i="0" dirty="0">
                <a:effectLst/>
                <a:latin typeface="fkGroteskNeue"/>
              </a:rPr>
              <a:t>The mid-value customer segment consistently delivers the highest profitability, regardless of income group.</a:t>
            </a:r>
          </a:p>
          <a:p>
            <a:pPr algn="l">
              <a:buFont typeface="Arial" panose="020B0604020202020204" pitchFamily="34" charset="0"/>
              <a:buChar char="•"/>
            </a:pPr>
            <a:r>
              <a:rPr lang="en-SG" b="0" i="0" dirty="0">
                <a:effectLst/>
                <a:latin typeface="fkGroteskNeue"/>
              </a:rPr>
              <a:t>Focusing efforts on mid-value customers can yield the greatest return for the business.</a:t>
            </a:r>
          </a:p>
          <a:p>
            <a:pPr algn="l">
              <a:buFont typeface="Arial" panose="020B0604020202020204" pitchFamily="34" charset="0"/>
              <a:buChar char="•"/>
            </a:pPr>
            <a:r>
              <a:rPr lang="en-SG" b="0" i="0" dirty="0">
                <a:effectLst/>
                <a:latin typeface="fkGroteskNeue"/>
              </a:rPr>
              <a:t>Suggest prioritizing engagement and retention strategies for this segment to maximize overall company profit.</a:t>
            </a:r>
          </a:p>
          <a:p>
            <a:pPr algn="l">
              <a:buFont typeface="Arial" panose="020B0604020202020204" pitchFamily="34" charset="0"/>
              <a:buChar char="•"/>
            </a:pPr>
            <a:r>
              <a:rPr lang="en-SG" b="0" i="0" dirty="0">
                <a:effectLst/>
                <a:latin typeface="fkGroteskNeue"/>
              </a:rPr>
              <a:t>Evaluate why mid-value customers are more profitable and find ways to replicate their </a:t>
            </a:r>
            <a:r>
              <a:rPr lang="en-SG" b="0" i="0" dirty="0" err="1">
                <a:effectLst/>
                <a:latin typeface="fkGroteskNeue"/>
              </a:rPr>
              <a:t>behaviors</a:t>
            </a:r>
            <a:r>
              <a:rPr lang="en-SG" b="0" i="0" dirty="0">
                <a:effectLst/>
                <a:latin typeface="fkGroteskNeue"/>
              </a:rPr>
              <a:t> across other segments.</a:t>
            </a:r>
          </a:p>
          <a:p>
            <a:pPr algn="l">
              <a:buFont typeface="Arial" panose="020B0604020202020204" pitchFamily="34" charset="0"/>
              <a:buChar char="•"/>
            </a:pPr>
            <a:r>
              <a:rPr lang="en-SG" b="0" i="0" dirty="0">
                <a:effectLst/>
                <a:latin typeface="fkGroteskNeue"/>
              </a:rPr>
              <a:t>Avoid allocating excessive resources to high- or low-value segments; balance strategy to support mid-value growth.</a:t>
            </a:r>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8</a:t>
            </a:fld>
            <a:endParaRPr lang="en-SG"/>
          </a:p>
        </p:txBody>
      </p:sp>
    </p:spTree>
    <p:extLst>
      <p:ext uri="{BB962C8B-B14F-4D97-AF65-F5344CB8AC3E}">
        <p14:creationId xmlns:p14="http://schemas.microsoft.com/office/powerpoint/2010/main" val="1512469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SG" dirty="0"/>
              <a:t>This analysis highlights that our most valuable customers are aged 41–60, a mature segment with strong purchasing power.</a:t>
            </a:r>
            <a: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 This directly answers our objective to </a:t>
            </a:r>
            <a:r>
              <a:rPr lang="en-SG" sz="1200" dirty="0" err="1">
                <a:solidFill>
                  <a:srgbClr val="000000"/>
                </a:solidFill>
                <a:effectLst/>
                <a:latin typeface="Lato" panose="020F0502020204030203" pitchFamily="34" charset="0"/>
                <a:ea typeface="等线" panose="02010600030101010101" pitchFamily="2" charset="-122"/>
                <a:cs typeface="Times New Roman" panose="02020603050405020304" pitchFamily="18" charset="0"/>
              </a:rPr>
              <a:t>analyze</a:t>
            </a:r>
            <a: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 how demographics impact spending. We now know our marketing should strongly target this age group.</a:t>
            </a:r>
            <a:b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br>
            <a:r>
              <a:rPr lang="en-SG" dirty="0"/>
              <a:t>The near-equal gender split shows balanced engagement across audiences, though male customers tend to spend slightly more per transaction.</a:t>
            </a:r>
            <a:br>
              <a:rPr lang="en-SG" dirty="0"/>
            </a:br>
            <a:r>
              <a:rPr lang="en-SG" dirty="0"/>
              <a:t>High-income customers account for over one-third of revenue, emphasizing the need to sustain premium positioning.</a:t>
            </a:r>
            <a:br>
              <a:rPr lang="en-SG" dirty="0"/>
            </a:br>
            <a:r>
              <a:rPr lang="en-SG" dirty="0"/>
              <a:t>With our top 10 customers contributing only about 1.5% of sales, the business shows healthy diversification and low dependency on individual buyers. </a:t>
            </a:r>
          </a:p>
        </p:txBody>
      </p:sp>
      <p:sp>
        <p:nvSpPr>
          <p:cNvPr id="4" name="Slide Number Placeholder 3"/>
          <p:cNvSpPr>
            <a:spLocks noGrp="1"/>
          </p:cNvSpPr>
          <p:nvPr>
            <p:ph type="sldNum" sz="quarter" idx="5"/>
          </p:nvPr>
        </p:nvSpPr>
        <p:spPr/>
        <p:txBody>
          <a:bodyPr/>
          <a:lstStyle/>
          <a:p>
            <a:fld id="{506DBF98-137E-42BA-A19C-2D26CD95E849}" type="slidenum">
              <a:rPr lang="en-SG" smtClean="0"/>
              <a:t>9</a:t>
            </a:fld>
            <a:endParaRPr lang="en-SG"/>
          </a:p>
        </p:txBody>
      </p:sp>
    </p:spTree>
    <p:extLst>
      <p:ext uri="{BB962C8B-B14F-4D97-AF65-F5344CB8AC3E}">
        <p14:creationId xmlns:p14="http://schemas.microsoft.com/office/powerpoint/2010/main" val="189542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SG" dirty="0"/>
              <a:t>This segmentation shows that mid-value customers drive the bulk of total profit, making them a key revenue anchor.</a:t>
            </a:r>
            <a:br>
              <a:rPr lang="en-SG" dirty="0"/>
            </a:br>
            <a:r>
              <a:rPr lang="en-SG" dirty="0"/>
              <a:t>High-value customers, though smaller in number, generate strong margins and present excellent retention and cross-sell opportunities.</a:t>
            </a:r>
            <a:br>
              <a:rPr lang="en-SG" dirty="0"/>
            </a:br>
            <a:r>
              <a:rPr lang="en-SG" dirty="0"/>
              <a:t>Low-value customers add volume but limited profit, suggesting they’re less strategic for targeted campaigns.</a:t>
            </a:r>
            <a:br>
              <a:rPr lang="en-SG" dirty="0"/>
            </a:br>
            <a:r>
              <a:rPr lang="en-SG" dirty="0"/>
              <a:t>The AOV gap between high and low-value customers highlights clear potential for upselling and personalized engagement to lift mid-tier spending.</a:t>
            </a:r>
          </a:p>
        </p:txBody>
      </p:sp>
      <p:sp>
        <p:nvSpPr>
          <p:cNvPr id="4" name="Slide Number Placeholder 3"/>
          <p:cNvSpPr>
            <a:spLocks noGrp="1"/>
          </p:cNvSpPr>
          <p:nvPr>
            <p:ph type="sldNum" sz="quarter" idx="5"/>
          </p:nvPr>
        </p:nvSpPr>
        <p:spPr/>
        <p:txBody>
          <a:bodyPr/>
          <a:lstStyle/>
          <a:p>
            <a:fld id="{506DBF98-137E-42BA-A19C-2D26CD95E849}" type="slidenum">
              <a:rPr lang="en-SG" smtClean="0"/>
              <a:t>10</a:t>
            </a:fld>
            <a:endParaRPr lang="en-SG"/>
          </a:p>
        </p:txBody>
      </p:sp>
    </p:spTree>
    <p:extLst>
      <p:ext uri="{BB962C8B-B14F-4D97-AF65-F5344CB8AC3E}">
        <p14:creationId xmlns:p14="http://schemas.microsoft.com/office/powerpoint/2010/main" val="2723757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This dashboard is fully interactive, allowing users to filter by period, country, income group, or gender to instantly view total revenue and the corresponding product preferences.</a:t>
            </a:r>
            <a:br>
              <a:rPr lang="en-SG" dirty="0"/>
            </a:br>
            <a:r>
              <a:rPr lang="en-SG" dirty="0"/>
              <a:t>When hovering over a </a:t>
            </a:r>
            <a:r>
              <a:rPr lang="en-SG" dirty="0" err="1"/>
              <a:t>treemap</a:t>
            </a:r>
            <a:r>
              <a:rPr lang="en-SG" dirty="0"/>
              <a:t> segment, you can see both the percentage and absolute revenue contribution for each country on the right, while the left-hand </a:t>
            </a:r>
            <a:r>
              <a:rPr lang="en-SG" dirty="0" err="1"/>
              <a:t>treemap</a:t>
            </a:r>
            <a:r>
              <a:rPr lang="en-SG" dirty="0"/>
              <a:t> displays product-level details.</a:t>
            </a:r>
            <a:br>
              <a:rPr lang="en-SG" dirty="0"/>
            </a:br>
            <a:r>
              <a:rPr lang="en-SG" dirty="0"/>
              <a:t>Changing the income group filter reveals distinct purchasing patterns, which can be used to design targeted product bundles—especially during key shopping periods such as Christmas.</a:t>
            </a:r>
            <a:br>
              <a:rPr lang="en-SG" dirty="0"/>
            </a:br>
            <a:r>
              <a:rPr lang="en-SG" dirty="0"/>
              <a:t>The Power BI model is built for sustainability; with each new month’s data, a single refresh automatically updates all visuals, ensuring the dashboard remains current and actionable over time.</a:t>
            </a:r>
            <a:endParaRPr lang="en-SG" sz="1200" dirty="0"/>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11</a:t>
            </a:fld>
            <a:endParaRPr lang="en-SG"/>
          </a:p>
        </p:txBody>
      </p:sp>
    </p:spTree>
    <p:extLst>
      <p:ext uri="{BB962C8B-B14F-4D97-AF65-F5344CB8AC3E}">
        <p14:creationId xmlns:p14="http://schemas.microsoft.com/office/powerpoint/2010/main" val="3042286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Colombia and Chile continue to be our strongest markets, together generating more than half of total revenue.</a:t>
            </a:r>
            <a:br>
              <a:rPr lang="en-SG" dirty="0"/>
            </a:br>
            <a:r>
              <a:rPr lang="en-SG" dirty="0"/>
              <a:t>Marketing and supply-chain strategies should prioritize these two countries to support sustainable growth.</a:t>
            </a:r>
            <a:br>
              <a:rPr lang="en-SG" dirty="0"/>
            </a:br>
            <a:r>
              <a:rPr lang="en-SG" dirty="0"/>
              <a:t>Within the product mix, Home &amp; Décor categories — especially Curtains, Wall Art, Furniture, and Lighting — are consistent top performers, so inventory and promotion planning should focus here.</a:t>
            </a:r>
            <a:br>
              <a:rPr lang="en-SG" dirty="0"/>
            </a:br>
            <a:r>
              <a:rPr lang="en-SG" dirty="0"/>
              <a:t>Lastly, maintaining engagement with Mid-Value customers and the 41–60 age segment will be crucial for retention and upselling, as these groups provide the highest recurring revenue.</a:t>
            </a:r>
          </a:p>
        </p:txBody>
      </p:sp>
      <p:sp>
        <p:nvSpPr>
          <p:cNvPr id="4" name="Slide Number Placeholder 3"/>
          <p:cNvSpPr>
            <a:spLocks noGrp="1"/>
          </p:cNvSpPr>
          <p:nvPr>
            <p:ph type="sldNum" sz="quarter" idx="5"/>
          </p:nvPr>
        </p:nvSpPr>
        <p:spPr/>
        <p:txBody>
          <a:bodyPr/>
          <a:lstStyle/>
          <a:p>
            <a:fld id="{506DBF98-137E-42BA-A19C-2D26CD95E849}" type="slidenum">
              <a:rPr lang="en-SG" smtClean="0"/>
              <a:t>12</a:t>
            </a:fld>
            <a:endParaRPr lang="en-SG"/>
          </a:p>
        </p:txBody>
      </p:sp>
    </p:spTree>
    <p:extLst>
      <p:ext uri="{BB962C8B-B14F-4D97-AF65-F5344CB8AC3E}">
        <p14:creationId xmlns:p14="http://schemas.microsoft.com/office/powerpoint/2010/main" val="1999362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slide examines the impact of discount levels on both revenue and profit.</a:t>
            </a:r>
            <a:br>
              <a:rPr lang="en-SG" dirty="0"/>
            </a:br>
            <a:r>
              <a:rPr lang="en-SG" dirty="0"/>
              <a:t>The blue columns represent total revenue, while the purple line tracks profit performance.</a:t>
            </a:r>
            <a:br>
              <a:rPr lang="en-SG" dirty="0"/>
            </a:br>
            <a:r>
              <a:rPr lang="en-SG" dirty="0"/>
              <a:t>As we can see, revenue rises gradually with discounts up to about 30 %, indicating moderate customer price sensitivity.</a:t>
            </a:r>
            <a:br>
              <a:rPr lang="en-SG" dirty="0"/>
            </a:br>
            <a:r>
              <a:rPr lang="en-SG" dirty="0"/>
              <a:t>once discounts exceed 30 %, profit starts to drop sharply — proving that deeper discounts do more harm than good.</a:t>
            </a:r>
            <a:br>
              <a:rPr lang="en-SG" dirty="0"/>
            </a:br>
            <a:r>
              <a:rPr lang="en-SG" dirty="0"/>
              <a:t>The optimal range is between 10 - 20 %, where both revenue and profit remain balanced.</a:t>
            </a:r>
            <a:br>
              <a:rPr lang="en-SG" dirty="0"/>
            </a:br>
            <a:r>
              <a:rPr lang="en-SG" dirty="0"/>
              <a:t>Therefore, our key recommendation is to maintain discounts within this range and instruct the sales team to avoid offering discounts above 30 % to protect margins.</a:t>
            </a:r>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13</a:t>
            </a:fld>
            <a:endParaRPr lang="en-SG"/>
          </a:p>
        </p:txBody>
      </p:sp>
    </p:spTree>
    <p:extLst>
      <p:ext uri="{BB962C8B-B14F-4D97-AF65-F5344CB8AC3E}">
        <p14:creationId xmlns:p14="http://schemas.microsoft.com/office/powerpoint/2010/main" val="277547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final slide summarizes the key insights and recommended actions from the analysis.</a:t>
            </a:r>
            <a:br>
              <a:rPr lang="en-SG" dirty="0"/>
            </a:br>
            <a:r>
              <a:rPr lang="en-SG" dirty="0"/>
              <a:t>Overall revenue reached </a:t>
            </a:r>
            <a:r>
              <a:rPr lang="en-SG" b="1" dirty="0"/>
              <a:t>263 million</a:t>
            </a:r>
            <a:r>
              <a:rPr lang="en-SG" dirty="0"/>
              <a:t>, mainly driven by Mid-Value segments, which form the core of long-term profitability.</a:t>
            </a:r>
            <a:br>
              <a:rPr lang="en-SG" dirty="0"/>
            </a:br>
            <a:r>
              <a:rPr lang="en-SG" b="1" dirty="0"/>
              <a:t>Colombia and Chile</a:t>
            </a:r>
            <a:r>
              <a:rPr lang="en-SG" dirty="0"/>
              <a:t> lead in sales, together contributing more than half of total revenue, while </a:t>
            </a:r>
            <a:r>
              <a:rPr lang="en-SG" b="1" dirty="0"/>
              <a:t>Home &amp; Décor</a:t>
            </a:r>
            <a:r>
              <a:rPr lang="en-SG" dirty="0"/>
              <a:t> remains the best-performing category.</a:t>
            </a:r>
            <a:br>
              <a:rPr lang="en-SG" dirty="0"/>
            </a:br>
            <a:r>
              <a:rPr lang="en-SG" dirty="0"/>
              <a:t>Pricing analysis shows that maintaining discounts between </a:t>
            </a:r>
            <a:r>
              <a:rPr lang="en-SG" b="1" dirty="0"/>
              <a:t>10 % to 30 %</a:t>
            </a:r>
            <a:r>
              <a:rPr lang="en-SG" dirty="0"/>
              <a:t> maximizes both sales and margins.</a:t>
            </a:r>
            <a:br>
              <a:rPr lang="en-SG" dirty="0"/>
            </a:br>
            <a:r>
              <a:rPr lang="en-SG" dirty="0"/>
              <a:t>Based on these findings, the key priorities are to retain high-value customers through loyalty initiatives, upsell mid-value buyers via curated bundles, and strengthen digital engagement with younger audiences.</a:t>
            </a:r>
            <a:br>
              <a:rPr lang="en-SG" dirty="0"/>
            </a:br>
            <a:r>
              <a:rPr lang="en-SG" dirty="0"/>
              <a:t>Finally, reinforcing stock and staffing ahead of Q4 and replicating the success strategies from Colombia and Chile in emerging markets will ensure sustained growth and stronger profitability going forward.</a:t>
            </a:r>
          </a:p>
          <a:p>
            <a:endParaRPr lang="en-SG" dirty="0"/>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14</a:t>
            </a:fld>
            <a:endParaRPr lang="en-SG"/>
          </a:p>
        </p:txBody>
      </p:sp>
    </p:spTree>
    <p:extLst>
      <p:ext uri="{BB962C8B-B14F-4D97-AF65-F5344CB8AC3E}">
        <p14:creationId xmlns:p14="http://schemas.microsoft.com/office/powerpoint/2010/main" val="1527924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SG" dirty="0"/>
              <a:t>Keep the customers that already pay us, don’t give away margin, and make sure ops is ready before Q4. Colombia and Chile are the blueprint.”</a:t>
            </a:r>
          </a:p>
        </p:txBody>
      </p:sp>
      <p:sp>
        <p:nvSpPr>
          <p:cNvPr id="4" name="Slide Number Placeholder 3"/>
          <p:cNvSpPr>
            <a:spLocks noGrp="1"/>
          </p:cNvSpPr>
          <p:nvPr>
            <p:ph type="sldNum" sz="quarter" idx="5"/>
          </p:nvPr>
        </p:nvSpPr>
        <p:spPr/>
        <p:txBody>
          <a:bodyPr/>
          <a:lstStyle/>
          <a:p>
            <a:fld id="{506DBF98-137E-42BA-A19C-2D26CD95E849}" type="slidenum">
              <a:rPr lang="en-SG" smtClean="0"/>
              <a:t>15</a:t>
            </a:fld>
            <a:endParaRPr lang="en-SG"/>
          </a:p>
        </p:txBody>
      </p:sp>
    </p:spTree>
    <p:extLst>
      <p:ext uri="{BB962C8B-B14F-4D97-AF65-F5344CB8AC3E}">
        <p14:creationId xmlns:p14="http://schemas.microsoft.com/office/powerpoint/2010/main" val="224483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B6B0-CD41-4979-8EE4-2F7B195FA9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C2B8207-5376-4303-835C-9F02B12C34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5AE856DB-3754-4575-BCEE-87876987DD13}"/>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8A97831A-CAD3-453F-8434-67C824E1AD7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28DBFE7-A28D-4B69-951E-8CE893F1A24C}"/>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2894126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B87C-3F63-48BD-B239-0A1BE64F94B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549931C-13B2-4B74-A6BA-881866FA07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CF01EF-B839-4818-AED0-8286ECBA020B}"/>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3193D471-216E-4E07-ACB0-FA798840C2D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E525A59-34BA-4268-A81C-671AD21AB69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96798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90D4-3382-4A64-AC9D-47D47E6C97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767C017F-BD3E-4B82-97AA-1FEF2F7AEF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06FE9D-EFFB-4A05-9C5D-32110F066046}"/>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5BBDE269-4FFC-4F5B-9D4E-AFE114E6F0E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0C69553-90B7-4A01-BACB-DE29240285C9}"/>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711887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1433B-2ACD-4F14-9749-58A2EF2B9FC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9285703-A72D-4CEB-AD52-D2AD50EB11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57C1D4E6-720E-4FB8-8DF4-4B57A1AC5E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12170473-A29B-4AB5-9F50-DF498E85B895}"/>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6" name="Footer Placeholder 5">
            <a:extLst>
              <a:ext uri="{FF2B5EF4-FFF2-40B4-BE49-F238E27FC236}">
                <a16:creationId xmlns:a16="http://schemas.microsoft.com/office/drawing/2014/main" id="{25BB21BC-7413-4759-BCDD-C923BFEA145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5C73605-98DF-4E7F-8F5E-57AB6D7B3C29}"/>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881670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3A275-D6D4-40F5-92CC-EB55E35FE81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252E363-B2BC-409A-8F63-F70038A156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B0690B-7503-4101-853E-E52B1CCEFC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E64E6883-DDA8-48DD-951B-93C8624105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900901-C17F-4E3D-B23D-E30CE6758A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C1B730F2-5ACE-4B70-BA92-AEAE5A21A76B}"/>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8" name="Footer Placeholder 7">
            <a:extLst>
              <a:ext uri="{FF2B5EF4-FFF2-40B4-BE49-F238E27FC236}">
                <a16:creationId xmlns:a16="http://schemas.microsoft.com/office/drawing/2014/main" id="{880170BA-6E60-48AE-B6D5-4D64520F347C}"/>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4DA05893-5364-4568-86DF-7465156B44B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3771958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4905F-94E6-4F7B-AFDC-372EAD06067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627924D-E532-4E86-9E73-C6664791DDD3}"/>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4" name="Footer Placeholder 3">
            <a:extLst>
              <a:ext uri="{FF2B5EF4-FFF2-40B4-BE49-F238E27FC236}">
                <a16:creationId xmlns:a16="http://schemas.microsoft.com/office/drawing/2014/main" id="{6B056A60-93A6-4F2D-96B4-86F4E29D5BE5}"/>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70B7D0E5-6325-48F5-8E3D-790831E1E94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3822052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BFEF2D-AFC0-4E3C-AA57-F04A3729D927}"/>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3" name="Footer Placeholder 2">
            <a:extLst>
              <a:ext uri="{FF2B5EF4-FFF2-40B4-BE49-F238E27FC236}">
                <a16:creationId xmlns:a16="http://schemas.microsoft.com/office/drawing/2014/main" id="{49113B34-B8C7-4D44-B3EF-C00175C00F80}"/>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152F6A2-F1B7-4343-8A4A-CFCE56E5F380}"/>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2876288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343D1-14E1-4D49-A713-D3D6BEFA0A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11B5E283-B12D-423A-AA0A-5B7D6BC230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065BDE8-0C59-492D-9530-07BA48D07B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DEE5A7-26A0-4688-9659-4DA6C8C6022A}"/>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6" name="Footer Placeholder 5">
            <a:extLst>
              <a:ext uri="{FF2B5EF4-FFF2-40B4-BE49-F238E27FC236}">
                <a16:creationId xmlns:a16="http://schemas.microsoft.com/office/drawing/2014/main" id="{DEA5156F-9C34-402D-BE64-E8EAD11AC78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509B45C-908B-46CF-A4F3-92B46DE30BC4}"/>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504453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CBE6F-7B4F-469F-87E1-4D029211C2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CC2F5AD-E987-4D8D-91D7-79FDF5AD94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4294EDFE-1BD5-42EB-B461-E35B4FF73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109A01-6126-46BD-9A7F-EE1F790E487D}"/>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6" name="Footer Placeholder 5">
            <a:extLst>
              <a:ext uri="{FF2B5EF4-FFF2-40B4-BE49-F238E27FC236}">
                <a16:creationId xmlns:a16="http://schemas.microsoft.com/office/drawing/2014/main" id="{996B8F6C-BBCD-4C80-8611-0B1304E93A7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62CB1CAD-2154-4818-AE2B-62B87A14FA30}"/>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47511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FE126-B20B-4A47-8B1F-7B5BAD208BC4}"/>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1283DFBA-E84E-4C68-8A51-0F68530B0E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FE6CEA1-D036-431E-A75E-FF7CA42D6AD3}"/>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5996D2D7-6822-4CFE-9B43-28A40E2CD09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EFBC058-E66A-4C87-B39F-497002CBAC60}"/>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2026066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B9661F-D362-44BE-B69C-20B750F6BE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C0C34D1A-3297-4EC6-8C07-D63AE9D73C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323A1BA-CB66-4BC6-95F6-4677E501F498}"/>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6A7D6F75-1C1B-4112-82E6-C027DEFD8FD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CE82BA-D2FE-4D31-B569-736B747EC80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683280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62DBA8-F3D6-427E-8DEB-5807377E19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50F0E93-0E91-4B10-B1BE-963C057074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E75A796-BC37-4151-95B9-BE820A2E9F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EAEB7456-A814-408F-B172-8FCD2A5BEC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08675FA9-3ECE-48A5-9D00-AEB23D60F4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5CC627-2795-4E98-895B-69E19A459BAE}" type="slidenum">
              <a:rPr lang="en-SG" smtClean="0"/>
              <a:t>‹#›</a:t>
            </a:fld>
            <a:endParaRPr lang="en-SG"/>
          </a:p>
        </p:txBody>
      </p:sp>
    </p:spTree>
    <p:extLst>
      <p:ext uri="{BB962C8B-B14F-4D97-AF65-F5344CB8AC3E}">
        <p14:creationId xmlns:p14="http://schemas.microsoft.com/office/powerpoint/2010/main" val="353564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7FFCFF-5DDF-4E76-B4FC-BEB49A996F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992" y="926275"/>
            <a:ext cx="10287000" cy="5931725"/>
          </a:xfrm>
          <a:prstGeom prst="rect">
            <a:avLst/>
          </a:prstGeom>
        </p:spPr>
      </p:pic>
      <p:sp>
        <p:nvSpPr>
          <p:cNvPr id="2" name="TextBox 1">
            <a:extLst>
              <a:ext uri="{FF2B5EF4-FFF2-40B4-BE49-F238E27FC236}">
                <a16:creationId xmlns:a16="http://schemas.microsoft.com/office/drawing/2014/main" id="{295DB455-84FC-4DE6-906D-30E195E37094}"/>
              </a:ext>
            </a:extLst>
          </p:cNvPr>
          <p:cNvSpPr txBox="1"/>
          <p:nvPr/>
        </p:nvSpPr>
        <p:spPr>
          <a:xfrm>
            <a:off x="4286992" y="5577782"/>
            <a:ext cx="4655127" cy="1015663"/>
          </a:xfrm>
          <a:prstGeom prst="rect">
            <a:avLst/>
          </a:prstGeom>
          <a:noFill/>
        </p:spPr>
        <p:txBody>
          <a:bodyPr wrap="square" rtlCol="0">
            <a:spAutoFit/>
          </a:bodyPr>
          <a:lstStyle/>
          <a:p>
            <a:pPr algn="ctr"/>
            <a:r>
              <a:rPr lang="en-SG" sz="2000" b="1" dirty="0"/>
              <a:t>Presented by Forest Wang Jun Lin</a:t>
            </a:r>
          </a:p>
          <a:p>
            <a:pPr algn="ctr"/>
            <a:endParaRPr lang="en-SG" sz="2000" b="1" dirty="0"/>
          </a:p>
          <a:p>
            <a:pPr algn="ctr"/>
            <a:r>
              <a:rPr lang="en-SG" sz="2000" b="1" dirty="0"/>
              <a:t>Cohort 47</a:t>
            </a:r>
          </a:p>
        </p:txBody>
      </p:sp>
    </p:spTree>
    <p:extLst>
      <p:ext uri="{BB962C8B-B14F-4D97-AF65-F5344CB8AC3E}">
        <p14:creationId xmlns:p14="http://schemas.microsoft.com/office/powerpoint/2010/main" val="2081960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6DCFCE-6A8B-49A6-A362-4D5EA778E8BD}"/>
              </a:ext>
            </a:extLst>
          </p:cNvPr>
          <p:cNvSpPr/>
          <p:nvPr/>
        </p:nvSpPr>
        <p:spPr>
          <a:xfrm>
            <a:off x="684808" y="804873"/>
            <a:ext cx="4600099" cy="566976"/>
          </a:xfrm>
          <a:prstGeom prst="rect">
            <a:avLst/>
          </a:prstGeom>
          <a:noFill/>
          <a:ln/>
        </p:spPr>
        <p:txBody>
          <a:bodyPr wrap="none" lIns="0" tIns="0" rIns="0" bIns="0" rtlCol="0" anchor="t"/>
          <a:lstStyle/>
          <a:p>
            <a:pPr marL="0" indent="0" algn="l">
              <a:lnSpc>
                <a:spcPts val="4450"/>
              </a:lnSpc>
              <a:buNone/>
            </a:pPr>
            <a:r>
              <a:rPr lang="en-US" sz="4800" dirty="0">
                <a:solidFill>
                  <a:srgbClr val="000000"/>
                </a:solidFill>
                <a:ea typeface="Alice" pitchFamily="34" charset="-122"/>
                <a:cs typeface="Alice" pitchFamily="34" charset="-120"/>
              </a:rPr>
              <a:t>🧠</a:t>
            </a:r>
            <a:r>
              <a:rPr lang="en-US" sz="4800" dirty="0">
                <a:solidFill>
                  <a:srgbClr val="233E32"/>
                </a:solidFill>
                <a:ea typeface="Alice" pitchFamily="34" charset="-122"/>
                <a:cs typeface="Alice" pitchFamily="34" charset="-120"/>
              </a:rPr>
              <a:t> </a:t>
            </a:r>
            <a:r>
              <a:rPr lang="en-US" sz="4400" b="1" dirty="0">
                <a:solidFill>
                  <a:srgbClr val="233E32"/>
                </a:solidFill>
                <a:ea typeface="Alice" pitchFamily="34" charset="-122"/>
                <a:cs typeface="Alice" pitchFamily="34" charset="-120"/>
              </a:rPr>
              <a:t>Problem Statement</a:t>
            </a:r>
            <a:endParaRPr lang="en-US" sz="4800" b="1" dirty="0"/>
          </a:p>
        </p:txBody>
      </p:sp>
      <p:sp>
        <p:nvSpPr>
          <p:cNvPr id="3" name="Text 1">
            <a:extLst>
              <a:ext uri="{FF2B5EF4-FFF2-40B4-BE49-F238E27FC236}">
                <a16:creationId xmlns:a16="http://schemas.microsoft.com/office/drawing/2014/main" id="{7D37BFFE-9E82-4462-AFAB-0FBAE99C9E83}"/>
              </a:ext>
            </a:extLst>
          </p:cNvPr>
          <p:cNvSpPr/>
          <p:nvPr/>
        </p:nvSpPr>
        <p:spPr>
          <a:xfrm>
            <a:off x="968514" y="2111966"/>
            <a:ext cx="10893634" cy="3332936"/>
          </a:xfrm>
          <a:prstGeom prst="rect">
            <a:avLst/>
          </a:prstGeom>
          <a:noFill/>
          <a:ln/>
        </p:spPr>
        <p:txBody>
          <a:bodyPr wrap="square" lIns="0" tIns="0" rIns="0" bIns="0" rtlCol="0" anchor="t"/>
          <a:lstStyle/>
          <a:p>
            <a:pPr marL="0" indent="0" algn="l">
              <a:lnSpc>
                <a:spcPts val="2850"/>
              </a:lnSpc>
              <a:buNone/>
            </a:pPr>
            <a:r>
              <a:rPr lang="en-US" sz="3200" dirty="0">
                <a:solidFill>
                  <a:srgbClr val="2C2821"/>
                </a:solidFill>
                <a:ea typeface="Lora" pitchFamily="34" charset="-122"/>
                <a:cs typeface="Lora" pitchFamily="34" charset="-120"/>
              </a:rPr>
              <a:t>This project aims to design and develop a comprehensive Business Intelligence dashboard that consolidates customer demographics, purchasing behavior, and product sales data. The dashboard will provide management with a holistic view of market trends, customer segmentation, and sales performance empowering the managers to make decisions regarding marketing, inventory, and customer retention strategies.</a:t>
            </a:r>
            <a:endParaRPr lang="en-US" sz="3200" dirty="0"/>
          </a:p>
        </p:txBody>
      </p:sp>
    </p:spTree>
    <p:extLst>
      <p:ext uri="{BB962C8B-B14F-4D97-AF65-F5344CB8AC3E}">
        <p14:creationId xmlns:p14="http://schemas.microsoft.com/office/powerpoint/2010/main" val="1370117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1B6A81F-A2BA-4FFB-AB9C-DDB954460EDC}"/>
              </a:ext>
            </a:extLst>
          </p:cNvPr>
          <p:cNvSpPr/>
          <p:nvPr/>
        </p:nvSpPr>
        <p:spPr>
          <a:xfrm>
            <a:off x="473827" y="860751"/>
            <a:ext cx="4086512" cy="691066"/>
          </a:xfrm>
          <a:prstGeom prst="rect">
            <a:avLst/>
          </a:prstGeom>
          <a:noFill/>
          <a:ln/>
        </p:spPr>
        <p:txBody>
          <a:bodyPr wrap="none" lIns="0" tIns="0" rIns="0" bIns="0" rtlCol="0" anchor="t"/>
          <a:lstStyle/>
          <a:p>
            <a:pPr marL="0" indent="0" algn="l">
              <a:lnSpc>
                <a:spcPts val="3950"/>
              </a:lnSpc>
              <a:buNone/>
            </a:pPr>
            <a:r>
              <a:rPr lang="en-US" sz="40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000" b="1" dirty="0">
                <a:solidFill>
                  <a:srgbClr val="233E32"/>
                </a:solidFill>
                <a:latin typeface="Calibri" panose="020F0502020204030204" pitchFamily="34" charset="0"/>
                <a:ea typeface="Calibri" panose="020F0502020204030204" pitchFamily="34" charset="0"/>
                <a:cs typeface="Calibri" panose="020F0502020204030204" pitchFamily="34" charset="0"/>
              </a:rPr>
              <a:t> Research Objectives</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E4295C70-452E-43E3-8091-626CA548CF02}"/>
              </a:ext>
            </a:extLst>
          </p:cNvPr>
          <p:cNvSpPr/>
          <p:nvPr/>
        </p:nvSpPr>
        <p:spPr>
          <a:xfrm>
            <a:off x="578330" y="1982101"/>
            <a:ext cx="11718173" cy="4614642"/>
          </a:xfrm>
          <a:prstGeom prst="rect">
            <a:avLst/>
          </a:prstGeom>
          <a:noFill/>
          <a:ln/>
        </p:spPr>
        <p:txBody>
          <a:bodyPr wrap="square" lIns="0" tIns="0" rIns="0" bIns="0" rtlCol="0" anchor="t"/>
          <a:lstStyle/>
          <a:p>
            <a:pPr marL="457200" indent="-457200">
              <a:buFont typeface="Arial" panose="020B0604020202020204" pitchFamily="34" charset="0"/>
              <a:buChar char="•"/>
            </a:pPr>
            <a:r>
              <a:rPr lang="en-SG" sz="2800" dirty="0"/>
              <a:t>Understand customer demographics and buying patterns</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Identify top-spending segments and high-value customers</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Evaluate sales trends and product performance across markets</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Examine how pricing and discounts influence profitability</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Present insights through an interactive Power BI dashboard</a:t>
            </a:r>
          </a:p>
          <a:p>
            <a:pPr>
              <a:lnSpc>
                <a:spcPts val="2550"/>
              </a:lnSpc>
              <a:buSzPct val="100000"/>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550"/>
              </a:lnSpc>
              <a:buSzPct val="100000"/>
              <a:buFont typeface="+mj-lt"/>
              <a:buAutoNum type="arabicPeriod"/>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4241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633992" y="1039956"/>
            <a:ext cx="5243025" cy="566976"/>
          </a:xfrm>
          <a:prstGeom prst="rect">
            <a:avLst/>
          </a:prstGeom>
          <a:noFill/>
          <a:ln/>
        </p:spPr>
        <p:txBody>
          <a:bodyPr wrap="none" lIns="0" tIns="0" rIns="0" bIns="0" rtlCol="0" anchor="t"/>
          <a:lstStyle/>
          <a:p>
            <a:pPr marL="0" indent="0" algn="l">
              <a:lnSpc>
                <a:spcPts val="4450"/>
              </a:lnSpc>
              <a:buNone/>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Expected Deliverable</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C81427AB-99B9-4A67-93CF-13011CADE879}"/>
              </a:ext>
            </a:extLst>
          </p:cNvPr>
          <p:cNvSpPr/>
          <p:nvPr/>
        </p:nvSpPr>
        <p:spPr>
          <a:xfrm>
            <a:off x="831900" y="2008308"/>
            <a:ext cx="10767201" cy="3600986"/>
          </a:xfrm>
          <a:prstGeom prst="rect">
            <a:avLst/>
          </a:prstGeom>
          <a:noFill/>
          <a:ln/>
        </p:spPr>
        <p:txBody>
          <a:bodyPr wrap="square" lIns="0" tIns="0" rIns="0" bIns="0" rtlCol="0" anchor="t">
            <a:spAutoFit/>
          </a:bodyPr>
          <a:lstStyle/>
          <a:p>
            <a:pPr marL="342900" indent="-342900">
              <a:buFont typeface="Arial" panose="020B0604020202020204" pitchFamily="34" charset="0"/>
              <a:buChar char="•"/>
            </a:pPr>
            <a:r>
              <a:rPr lang="en-SG" sz="2600" dirty="0"/>
              <a:t>An interactive </a:t>
            </a:r>
            <a:r>
              <a:rPr lang="en-SG" sz="2600" b="1" dirty="0"/>
              <a:t>Power BI dashboard</a:t>
            </a:r>
            <a:r>
              <a:rPr lang="en-SG" sz="2600" dirty="0"/>
              <a:t> integrating customer, product, and sales data.</a:t>
            </a:r>
          </a:p>
          <a:p>
            <a:pPr marL="342900" indent="-342900">
              <a:buFont typeface="Arial" panose="020B0604020202020204" pitchFamily="34" charset="0"/>
              <a:buChar char="•"/>
            </a:pPr>
            <a:endParaRPr lang="en-SG" sz="2600" dirty="0"/>
          </a:p>
          <a:p>
            <a:pPr marL="342900" indent="-342900">
              <a:buFont typeface="Arial" panose="020B0604020202020204" pitchFamily="34" charset="0"/>
              <a:buChar char="•"/>
            </a:pPr>
            <a:r>
              <a:rPr lang="en-SG" sz="2600" dirty="0"/>
              <a:t>Visualizes </a:t>
            </a:r>
            <a:r>
              <a:rPr lang="en-SG" sz="2600" b="1" dirty="0"/>
              <a:t>customer segmentation</a:t>
            </a:r>
            <a:r>
              <a:rPr lang="en-SG" sz="2600" dirty="0"/>
              <a:t>, </a:t>
            </a:r>
            <a:r>
              <a:rPr lang="en-SG" sz="2600" b="1" dirty="0"/>
              <a:t>sales performance</a:t>
            </a:r>
            <a:r>
              <a:rPr lang="en-SG" sz="2600" dirty="0"/>
              <a:t>, and </a:t>
            </a:r>
            <a:r>
              <a:rPr lang="en-SG" sz="2600" b="1" dirty="0"/>
              <a:t>discount impact</a:t>
            </a:r>
            <a:r>
              <a:rPr lang="en-SG" sz="2600" dirty="0"/>
              <a:t>.</a:t>
            </a:r>
          </a:p>
          <a:p>
            <a:pPr marL="342900" indent="-342900">
              <a:buFont typeface="Arial" panose="020B0604020202020204" pitchFamily="34" charset="0"/>
              <a:buChar char="•"/>
            </a:pPr>
            <a:endParaRPr lang="en-SG" sz="2600" dirty="0"/>
          </a:p>
          <a:p>
            <a:pPr marL="342900" indent="-342900">
              <a:buFont typeface="Arial" panose="020B0604020202020204" pitchFamily="34" charset="0"/>
              <a:buChar char="•"/>
            </a:pPr>
            <a:r>
              <a:rPr lang="en-SG" sz="2600" dirty="0"/>
              <a:t>Highlights </a:t>
            </a:r>
            <a:r>
              <a:rPr lang="en-SG" sz="2600" b="1" dirty="0"/>
              <a:t>top-performing countries and products</a:t>
            </a:r>
            <a:r>
              <a:rPr lang="en-SG" sz="2600" dirty="0"/>
              <a:t> driving revenue growth.</a:t>
            </a:r>
          </a:p>
          <a:p>
            <a:pPr marL="342900" indent="-342900">
              <a:buFont typeface="Arial" panose="020B0604020202020204" pitchFamily="34" charset="0"/>
              <a:buChar char="•"/>
            </a:pPr>
            <a:endParaRPr lang="en-SG" sz="2600" dirty="0"/>
          </a:p>
          <a:p>
            <a:pPr marL="342900" indent="-342900">
              <a:buFont typeface="Arial" panose="020B0604020202020204" pitchFamily="34" charset="0"/>
              <a:buChar char="•"/>
            </a:pPr>
            <a:r>
              <a:rPr lang="en-SG" sz="2600" dirty="0"/>
              <a:t>Delivers </a:t>
            </a:r>
            <a:r>
              <a:rPr lang="en-SG" sz="2600" b="1" dirty="0"/>
              <a:t>clear, data-backed insights</a:t>
            </a:r>
            <a:r>
              <a:rPr lang="en-SG" sz="2600" dirty="0"/>
              <a:t> for marketing, pricing, and retention decisions.</a:t>
            </a:r>
            <a:endParaRPr lang="en-US" sz="26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4935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852975" y="346273"/>
            <a:ext cx="5243025" cy="566976"/>
          </a:xfrm>
          <a:prstGeom prst="rect">
            <a:avLst/>
          </a:prstGeom>
          <a:noFill/>
          <a:ln/>
        </p:spPr>
        <p:txBody>
          <a:bodyPr wrap="none" lIns="0" tIns="0" rIns="0" bIns="0" rtlCol="0" anchor="t"/>
          <a:lstStyle/>
          <a:p>
            <a:pPr marL="0" indent="0" algn="l">
              <a:lnSpc>
                <a:spcPts val="4450"/>
              </a:lnSpc>
              <a:buNone/>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Methodology to study</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84485B2C-2780-4F02-9B97-B7AD10B7503C}"/>
              </a:ext>
            </a:extLst>
          </p:cNvPr>
          <p:cNvPicPr>
            <a:picLocks noChangeAspect="1"/>
          </p:cNvPicPr>
          <p:nvPr/>
        </p:nvPicPr>
        <p:blipFill>
          <a:blip r:embed="rId3"/>
          <a:stretch>
            <a:fillRect/>
          </a:stretch>
        </p:blipFill>
        <p:spPr>
          <a:xfrm>
            <a:off x="2427445" y="985820"/>
            <a:ext cx="7718802" cy="3494582"/>
          </a:xfrm>
          <a:prstGeom prst="rect">
            <a:avLst/>
          </a:prstGeom>
        </p:spPr>
      </p:pic>
      <p:sp>
        <p:nvSpPr>
          <p:cNvPr id="3" name="Text 1">
            <a:extLst>
              <a:ext uri="{FF2B5EF4-FFF2-40B4-BE49-F238E27FC236}">
                <a16:creationId xmlns:a16="http://schemas.microsoft.com/office/drawing/2014/main" id="{C81427AB-99B9-4A67-93CF-13011CADE879}"/>
              </a:ext>
            </a:extLst>
          </p:cNvPr>
          <p:cNvSpPr/>
          <p:nvPr/>
        </p:nvSpPr>
        <p:spPr>
          <a:xfrm>
            <a:off x="507841" y="4495682"/>
            <a:ext cx="11558010" cy="2523768"/>
          </a:xfrm>
          <a:prstGeom prst="rect">
            <a:avLst/>
          </a:prstGeom>
          <a:noFill/>
          <a:ln/>
        </p:spPr>
        <p:txBody>
          <a:bodyPr wrap="square" lIns="0" tIns="0" rIns="0" bIns="0" rtlCol="0" anchor="t">
            <a:spAutoFit/>
          </a:bodyPr>
          <a:lstStyle/>
          <a:p>
            <a:pPr marL="285750" indent="-285750">
              <a:buFont typeface="Arial" panose="020B0604020202020204" pitchFamily="34" charset="0"/>
              <a:buChar char="•"/>
            </a:pPr>
            <a:r>
              <a:rPr lang="en-SG" sz="2000" dirty="0"/>
              <a:t>Combined </a:t>
            </a:r>
            <a:r>
              <a:rPr lang="en-SG" sz="2000" b="1" dirty="0"/>
              <a:t>customer</a:t>
            </a:r>
            <a:r>
              <a:rPr lang="en-SG" sz="2000" dirty="0"/>
              <a:t>, and </a:t>
            </a:r>
            <a:r>
              <a:rPr lang="en-SG" sz="2000" b="1" dirty="0"/>
              <a:t>purchase</a:t>
            </a:r>
            <a:r>
              <a:rPr lang="en-SG" sz="2000" dirty="0"/>
              <a:t> data into one merged dataset for a full business view.</a:t>
            </a:r>
          </a:p>
          <a:p>
            <a:pPr marL="285750" indent="-285750">
              <a:buFont typeface="Arial" panose="020B0604020202020204" pitchFamily="34" charset="0"/>
              <a:buChar char="•"/>
            </a:pPr>
            <a:endParaRPr lang="en-SG" sz="2000" dirty="0"/>
          </a:p>
          <a:p>
            <a:pPr marL="285750" indent="-285750">
              <a:buFont typeface="Arial" panose="020B0604020202020204" pitchFamily="34" charset="0"/>
              <a:buChar char="•"/>
            </a:pPr>
            <a:r>
              <a:rPr lang="en-SG" sz="2000" dirty="0"/>
              <a:t>Performed </a:t>
            </a:r>
            <a:r>
              <a:rPr lang="en-SG" sz="2000" b="1" dirty="0"/>
              <a:t>data cleaning</a:t>
            </a:r>
            <a:r>
              <a:rPr lang="en-SG" sz="2000" dirty="0"/>
              <a:t> and standardized formats to ensure accuracy.</a:t>
            </a:r>
          </a:p>
          <a:p>
            <a:pPr marL="285750" indent="-285750">
              <a:buFont typeface="Arial" panose="020B0604020202020204" pitchFamily="34" charset="0"/>
              <a:buChar char="•"/>
            </a:pPr>
            <a:endParaRPr lang="en-SG" sz="2000" dirty="0"/>
          </a:p>
          <a:p>
            <a:pPr marL="285750" indent="-285750">
              <a:buFont typeface="Arial" panose="020B0604020202020204" pitchFamily="34" charset="0"/>
              <a:buChar char="•"/>
            </a:pPr>
            <a:r>
              <a:rPr lang="en-SG" sz="2000" dirty="0"/>
              <a:t>Created a </a:t>
            </a:r>
            <a:r>
              <a:rPr lang="en-SG" sz="2000" b="1" dirty="0"/>
              <a:t>customer segmentation table</a:t>
            </a:r>
            <a:r>
              <a:rPr lang="en-SG" sz="2000" dirty="0"/>
              <a:t> using order frequency and spend levels (cut-offs at 20K / 30K).</a:t>
            </a:r>
          </a:p>
          <a:p>
            <a:pPr marL="285750" indent="-285750">
              <a:buFont typeface="Arial" panose="020B0604020202020204" pitchFamily="34" charset="0"/>
              <a:buChar char="•"/>
            </a:pPr>
            <a:endParaRPr lang="en-SG" sz="2000" dirty="0"/>
          </a:p>
          <a:p>
            <a:pPr marL="285750" indent="-285750">
              <a:buFont typeface="Arial" panose="020B0604020202020204" pitchFamily="34" charset="0"/>
              <a:buChar char="•"/>
            </a:pPr>
            <a:r>
              <a:rPr lang="en-SG" sz="2000" dirty="0"/>
              <a:t>Built </a:t>
            </a:r>
            <a:r>
              <a:rPr lang="en-SG" sz="2000" b="1" dirty="0"/>
              <a:t>relationships</a:t>
            </a:r>
            <a:r>
              <a:rPr lang="en-SG" sz="2000" dirty="0"/>
              <a:t> between merged, date, and customer tables to support time-series and segment analysis</a:t>
            </a:r>
            <a:r>
              <a:rPr lang="en-SG" dirty="0"/>
              <a:t>.</a:t>
            </a:r>
          </a:p>
          <a:p>
            <a:pPr>
              <a:buFont typeface="Arial" panose="020B0604020202020204" pitchFamily="34" charset="0"/>
              <a:buChar char="•"/>
            </a:pPr>
            <a:endParaRPr lang="en-SG" sz="2400" dirty="0"/>
          </a:p>
        </p:txBody>
      </p:sp>
    </p:spTree>
    <p:extLst>
      <p:ext uri="{BB962C8B-B14F-4D97-AF65-F5344CB8AC3E}">
        <p14:creationId xmlns:p14="http://schemas.microsoft.com/office/powerpoint/2010/main" val="1700358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C98140-9484-4923-B5DC-805DB22E6861}"/>
              </a:ext>
            </a:extLst>
          </p:cNvPr>
          <p:cNvPicPr>
            <a:picLocks noChangeAspect="1"/>
          </p:cNvPicPr>
          <p:nvPr/>
        </p:nvPicPr>
        <p:blipFill>
          <a:blip r:embed="rId3"/>
          <a:stretch>
            <a:fillRect/>
          </a:stretch>
        </p:blipFill>
        <p:spPr>
          <a:xfrm>
            <a:off x="438411" y="181771"/>
            <a:ext cx="11468194" cy="6582284"/>
          </a:xfrm>
          <a:prstGeom prst="rect">
            <a:avLst/>
          </a:prstGeom>
        </p:spPr>
      </p:pic>
    </p:spTree>
    <p:extLst>
      <p:ext uri="{BB962C8B-B14F-4D97-AF65-F5344CB8AC3E}">
        <p14:creationId xmlns:p14="http://schemas.microsoft.com/office/powerpoint/2010/main" val="1327237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D54E2E-5795-4A9F-8961-483BECBA2305}"/>
              </a:ext>
            </a:extLst>
          </p:cNvPr>
          <p:cNvSpPr txBox="1"/>
          <p:nvPr/>
        </p:nvSpPr>
        <p:spPr>
          <a:xfrm>
            <a:off x="718457" y="1230257"/>
            <a:ext cx="11473543" cy="2246769"/>
          </a:xfrm>
          <a:prstGeom prst="rect">
            <a:avLst/>
          </a:prstGeom>
          <a:noFill/>
        </p:spPr>
        <p:txBody>
          <a:bodyPr wrap="square" rtlCol="0">
            <a:spAutoFit/>
          </a:bodyPr>
          <a:lstStyle/>
          <a:p>
            <a:pPr marL="342900" indent="-342900">
              <a:buFont typeface="Arial" panose="020B0604020202020204" pitchFamily="34" charset="0"/>
              <a:buChar char="•"/>
            </a:pPr>
            <a:r>
              <a:rPr lang="en-SG" sz="2800" dirty="0"/>
              <a:t>Revenue grew steadily from 2020–2023 with strong </a:t>
            </a:r>
            <a:r>
              <a:rPr lang="en-SG" sz="2800" b="1" dirty="0"/>
              <a:t>Q4 peaks (Oct–Dec)</a:t>
            </a:r>
            <a:r>
              <a:rPr lang="en-SG" sz="2800" dirty="0"/>
              <a:t>.</a:t>
            </a:r>
          </a:p>
          <a:p>
            <a:pPr marL="342900" indent="-342900">
              <a:buFont typeface="Arial" panose="020B0604020202020204" pitchFamily="34" charset="0"/>
              <a:buChar char="•"/>
            </a:pPr>
            <a:r>
              <a:rPr lang="en-SG" sz="2800" dirty="0"/>
              <a:t>Profit margins stable; </a:t>
            </a:r>
            <a:r>
              <a:rPr lang="en-SG" sz="2800" b="1" dirty="0"/>
              <a:t>shipping cost efficiency improved to 0.52%</a:t>
            </a:r>
            <a:r>
              <a:rPr lang="en-SG" sz="2800" dirty="0"/>
              <a:t>.</a:t>
            </a:r>
          </a:p>
          <a:p>
            <a:pPr marL="342900" indent="-342900">
              <a:buFont typeface="Arial" panose="020B0604020202020204" pitchFamily="34" charset="0"/>
              <a:buChar char="•"/>
            </a:pPr>
            <a:r>
              <a:rPr lang="en-SG" sz="2800" i="1" dirty="0"/>
              <a:t>Home &amp; Décor</a:t>
            </a:r>
            <a:r>
              <a:rPr lang="en-SG" sz="2800" dirty="0"/>
              <a:t> drives sales; </a:t>
            </a:r>
            <a:r>
              <a:rPr lang="en-SG" sz="2800" b="1" dirty="0"/>
              <a:t>Colombia and Chile</a:t>
            </a:r>
            <a:r>
              <a:rPr lang="en-SG" sz="2800" dirty="0"/>
              <a:t> contribute &gt;50% of total revenue.</a:t>
            </a:r>
          </a:p>
          <a:p>
            <a:pPr marL="342900" indent="-342900">
              <a:buFont typeface="Arial" panose="020B0604020202020204" pitchFamily="34" charset="0"/>
              <a:buChar char="•"/>
            </a:pPr>
            <a:r>
              <a:rPr lang="en-SG" sz="2800" dirty="0"/>
              <a:t>AOV pattern of </a:t>
            </a:r>
            <a:r>
              <a:rPr lang="en-SG" sz="2800" b="1" dirty="0"/>
              <a:t>High &gt; Low &gt; Mid</a:t>
            </a:r>
            <a:endParaRPr lang="en-SG" sz="2400" dirty="0">
              <a:latin typeface="Segoe UI" panose="020B0502040204020203" pitchFamily="34" charset="0"/>
              <a:cs typeface="Segoe UI" panose="020B0502040204020203" pitchFamily="34" charset="0"/>
            </a:endParaRPr>
          </a:p>
        </p:txBody>
      </p:sp>
      <p:sp>
        <p:nvSpPr>
          <p:cNvPr id="6" name="Text 0">
            <a:extLst>
              <a:ext uri="{FF2B5EF4-FFF2-40B4-BE49-F238E27FC236}">
                <a16:creationId xmlns:a16="http://schemas.microsoft.com/office/drawing/2014/main" id="{69BCD242-45B6-4C4F-911F-EF358284C788}"/>
              </a:ext>
            </a:extLst>
          </p:cNvPr>
          <p:cNvSpPr/>
          <p:nvPr/>
        </p:nvSpPr>
        <p:spPr>
          <a:xfrm>
            <a:off x="718457" y="479705"/>
            <a:ext cx="7752545" cy="566976"/>
          </a:xfrm>
          <a:prstGeom prst="rect">
            <a:avLst/>
          </a:prstGeom>
          <a:noFill/>
          <a:ln/>
        </p:spPr>
        <p:txBody>
          <a:bodyPr wrap="none" lIns="0" tIns="0" rIns="0" bIns="0" rtlCol="0" anchor="t"/>
          <a:lstStyle/>
          <a:p>
            <a:pPr marL="0" indent="0" algn="l">
              <a:lnSpc>
                <a:spcPts val="4450"/>
              </a:lnSpc>
              <a:buNone/>
            </a:pPr>
            <a:r>
              <a:rPr lang="en-US" sz="3600" b="1" dirty="0">
                <a:solidFill>
                  <a:srgbClr val="000000"/>
                </a:solidFill>
                <a:latin typeface="Lucida Bright" panose="02040602050505020304" pitchFamily="18" charset="0"/>
                <a:ea typeface="Alice" pitchFamily="34" charset="-122"/>
                <a:cs typeface="Alice" pitchFamily="34" charset="-120"/>
              </a:rPr>
              <a:t>🧮</a:t>
            </a:r>
            <a:r>
              <a:rPr lang="en-US" sz="3600" b="1" dirty="0">
                <a:solidFill>
                  <a:srgbClr val="233E32"/>
                </a:solidFill>
                <a:latin typeface="Lucida Bright" panose="02040602050505020304" pitchFamily="18" charset="0"/>
                <a:ea typeface="Alice" pitchFamily="34" charset="-122"/>
                <a:cs typeface="Alice" pitchFamily="34" charset="-120"/>
              </a:rPr>
              <a:t> Insight from Executive Summary</a:t>
            </a:r>
            <a:endParaRPr lang="en-US" sz="3600" b="1" dirty="0">
              <a:latin typeface="Lucida Bright" panose="02040602050505020304" pitchFamily="18" charset="0"/>
            </a:endParaRPr>
          </a:p>
        </p:txBody>
      </p:sp>
      <p:pic>
        <p:nvPicPr>
          <p:cNvPr id="3" name="Picture 2">
            <a:extLst>
              <a:ext uri="{FF2B5EF4-FFF2-40B4-BE49-F238E27FC236}">
                <a16:creationId xmlns:a16="http://schemas.microsoft.com/office/drawing/2014/main" id="{D430CD2A-3A80-4EBF-84D3-090CF667E4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94" y="3880032"/>
            <a:ext cx="6853575" cy="1505540"/>
          </a:xfrm>
          <a:prstGeom prst="rect">
            <a:avLst/>
          </a:prstGeom>
        </p:spPr>
      </p:pic>
      <p:pic>
        <p:nvPicPr>
          <p:cNvPr id="8" name="Picture 7">
            <a:extLst>
              <a:ext uri="{FF2B5EF4-FFF2-40B4-BE49-F238E27FC236}">
                <a16:creationId xmlns:a16="http://schemas.microsoft.com/office/drawing/2014/main" id="{9D864049-BD3F-4026-A12B-65726CE41FA7}"/>
              </a:ext>
            </a:extLst>
          </p:cNvPr>
          <p:cNvPicPr>
            <a:picLocks noChangeAspect="1"/>
          </p:cNvPicPr>
          <p:nvPr/>
        </p:nvPicPr>
        <p:blipFill>
          <a:blip r:embed="rId4"/>
          <a:stretch>
            <a:fillRect/>
          </a:stretch>
        </p:blipFill>
        <p:spPr>
          <a:xfrm>
            <a:off x="0" y="5318687"/>
            <a:ext cx="6969808" cy="1505539"/>
          </a:xfrm>
          <a:prstGeom prst="rect">
            <a:avLst/>
          </a:prstGeom>
        </p:spPr>
      </p:pic>
      <p:sp>
        <p:nvSpPr>
          <p:cNvPr id="9" name="TextBox 8">
            <a:extLst>
              <a:ext uri="{FF2B5EF4-FFF2-40B4-BE49-F238E27FC236}">
                <a16:creationId xmlns:a16="http://schemas.microsoft.com/office/drawing/2014/main" id="{F24030A4-998D-4D0A-9C2B-E5DA21876CBF}"/>
              </a:ext>
            </a:extLst>
          </p:cNvPr>
          <p:cNvSpPr txBox="1"/>
          <p:nvPr/>
        </p:nvSpPr>
        <p:spPr>
          <a:xfrm>
            <a:off x="3878224" y="3881309"/>
            <a:ext cx="2275562" cy="369332"/>
          </a:xfrm>
          <a:prstGeom prst="rect">
            <a:avLst/>
          </a:prstGeom>
          <a:noFill/>
        </p:spPr>
        <p:txBody>
          <a:bodyPr wrap="square" rtlCol="0">
            <a:spAutoFit/>
          </a:bodyPr>
          <a:lstStyle/>
          <a:p>
            <a:r>
              <a:rPr lang="en-SG" dirty="0"/>
              <a:t>Low income group</a:t>
            </a:r>
          </a:p>
        </p:txBody>
      </p:sp>
      <p:sp>
        <p:nvSpPr>
          <p:cNvPr id="10" name="TextBox 9">
            <a:extLst>
              <a:ext uri="{FF2B5EF4-FFF2-40B4-BE49-F238E27FC236}">
                <a16:creationId xmlns:a16="http://schemas.microsoft.com/office/drawing/2014/main" id="{ADFC85C0-8D17-41ED-A47B-2DC06DF47EE4}"/>
              </a:ext>
            </a:extLst>
          </p:cNvPr>
          <p:cNvSpPr txBox="1"/>
          <p:nvPr/>
        </p:nvSpPr>
        <p:spPr>
          <a:xfrm>
            <a:off x="3878224" y="5443077"/>
            <a:ext cx="2275562" cy="369332"/>
          </a:xfrm>
          <a:prstGeom prst="rect">
            <a:avLst/>
          </a:prstGeom>
          <a:noFill/>
        </p:spPr>
        <p:txBody>
          <a:bodyPr wrap="square" rtlCol="0">
            <a:spAutoFit/>
          </a:bodyPr>
          <a:lstStyle/>
          <a:p>
            <a:r>
              <a:rPr lang="en-SG" dirty="0"/>
              <a:t>Mid income group</a:t>
            </a:r>
          </a:p>
        </p:txBody>
      </p:sp>
      <p:sp>
        <p:nvSpPr>
          <p:cNvPr id="11" name="TextBox 10">
            <a:extLst>
              <a:ext uri="{FF2B5EF4-FFF2-40B4-BE49-F238E27FC236}">
                <a16:creationId xmlns:a16="http://schemas.microsoft.com/office/drawing/2014/main" id="{1592BF88-5A15-4A4C-993B-A3ED12D9157C}"/>
              </a:ext>
            </a:extLst>
          </p:cNvPr>
          <p:cNvSpPr txBox="1"/>
          <p:nvPr/>
        </p:nvSpPr>
        <p:spPr>
          <a:xfrm>
            <a:off x="6954431" y="3723232"/>
            <a:ext cx="5045503" cy="3046988"/>
          </a:xfrm>
          <a:prstGeom prst="rect">
            <a:avLst/>
          </a:prstGeom>
          <a:noFill/>
        </p:spPr>
        <p:txBody>
          <a:bodyPr wrap="square" rtlCol="0">
            <a:spAutoFit/>
          </a:bodyPr>
          <a:lstStyle/>
          <a:p>
            <a:pPr marL="342900" indent="-342900">
              <a:buFont typeface="Arial" panose="020B0604020202020204" pitchFamily="34" charset="0"/>
              <a:buChar char="•"/>
            </a:pPr>
            <a:r>
              <a:rPr lang="en-SG" sz="2400" dirty="0"/>
              <a:t>Low-income customers likely place fewer orders and buy more per order, Peaks line up with promotional cycles</a:t>
            </a:r>
          </a:p>
          <a:p>
            <a:pPr marL="342900" indent="-342900">
              <a:buFont typeface="Arial" panose="020B0604020202020204" pitchFamily="34" charset="0"/>
              <a:buChar char="•"/>
            </a:pPr>
            <a:r>
              <a:rPr lang="en-SG" sz="2400" dirty="0"/>
              <a:t>Mid-income customers usually have more frequent, smaller baskets with mild seasonality</a:t>
            </a:r>
          </a:p>
          <a:p>
            <a:pPr marL="342900" indent="-342900">
              <a:buFont typeface="Arial" panose="020B0604020202020204" pitchFamily="34" charset="0"/>
              <a:buChar char="•"/>
            </a:pPr>
            <a:endParaRPr lang="en-SG"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6707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35FC04-0C0E-4247-8DBB-7000DC454876}"/>
              </a:ext>
            </a:extLst>
          </p:cNvPr>
          <p:cNvPicPr>
            <a:picLocks noChangeAspect="1"/>
          </p:cNvPicPr>
          <p:nvPr/>
        </p:nvPicPr>
        <p:blipFill>
          <a:blip r:embed="rId3"/>
          <a:stretch>
            <a:fillRect/>
          </a:stretch>
        </p:blipFill>
        <p:spPr>
          <a:xfrm>
            <a:off x="325286" y="137786"/>
            <a:ext cx="11574371" cy="6601217"/>
          </a:xfrm>
          <a:prstGeom prst="rect">
            <a:avLst/>
          </a:prstGeom>
        </p:spPr>
      </p:pic>
    </p:spTree>
    <p:extLst>
      <p:ext uri="{BB962C8B-B14F-4D97-AF65-F5344CB8AC3E}">
        <p14:creationId xmlns:p14="http://schemas.microsoft.com/office/powerpoint/2010/main" val="3797830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69BCD242-45B6-4C4F-911F-EF358284C788}"/>
              </a:ext>
            </a:extLst>
          </p:cNvPr>
          <p:cNvSpPr/>
          <p:nvPr/>
        </p:nvSpPr>
        <p:spPr>
          <a:xfrm>
            <a:off x="1114231" y="791177"/>
            <a:ext cx="8356340" cy="566976"/>
          </a:xfrm>
          <a:prstGeom prst="rect">
            <a:avLst/>
          </a:prstGeom>
          <a:noFill/>
          <a:ln/>
        </p:spPr>
        <p:txBody>
          <a:bodyPr wrap="none" lIns="0" tIns="0" rIns="0" bIns="0" rtlCol="0" anchor="t"/>
          <a:lstStyle/>
          <a:p>
            <a:pPr marL="0" indent="0" algn="ctr">
              <a:lnSpc>
                <a:spcPts val="4450"/>
              </a:lnSpc>
              <a:buNone/>
            </a:pPr>
            <a:r>
              <a:rPr lang="en-US" sz="3600" b="1" dirty="0">
                <a:solidFill>
                  <a:srgbClr val="000000"/>
                </a:solidFill>
                <a:ea typeface="Alice" pitchFamily="34" charset="-122"/>
                <a:cs typeface="Alice" pitchFamily="34" charset="-120"/>
              </a:rPr>
              <a:t>🧮</a:t>
            </a:r>
            <a:r>
              <a:rPr lang="en-US" sz="3600" b="1" dirty="0">
                <a:solidFill>
                  <a:srgbClr val="233E32"/>
                </a:solidFill>
                <a:ea typeface="Alice" pitchFamily="34" charset="-122"/>
                <a:cs typeface="Alice" pitchFamily="34" charset="-120"/>
              </a:rPr>
              <a:t> Customer </a:t>
            </a:r>
            <a:r>
              <a:rPr lang="en-SG" sz="3600" b="1" dirty="0">
                <a:solidFill>
                  <a:srgbClr val="233E32"/>
                </a:solidFill>
                <a:ea typeface="Alice" pitchFamily="34" charset="-122"/>
              </a:rPr>
              <a:t>Demographics &amp; Spending Behaviour</a:t>
            </a:r>
            <a:endParaRPr lang="en-US" sz="3600" b="1" dirty="0">
              <a:solidFill>
                <a:srgbClr val="233E32"/>
              </a:solidFill>
              <a:ea typeface="Alice" pitchFamily="34" charset="-122"/>
            </a:endParaRPr>
          </a:p>
        </p:txBody>
      </p:sp>
      <p:sp>
        <p:nvSpPr>
          <p:cNvPr id="5" name="TextBox 4">
            <a:extLst>
              <a:ext uri="{FF2B5EF4-FFF2-40B4-BE49-F238E27FC236}">
                <a16:creationId xmlns:a16="http://schemas.microsoft.com/office/drawing/2014/main" id="{9967216A-24A2-41BB-AF66-C30614DDF220}"/>
              </a:ext>
            </a:extLst>
          </p:cNvPr>
          <p:cNvSpPr txBox="1"/>
          <p:nvPr/>
        </p:nvSpPr>
        <p:spPr>
          <a:xfrm>
            <a:off x="508496" y="1564243"/>
            <a:ext cx="10915984" cy="5447645"/>
          </a:xfrm>
          <a:prstGeom prst="rect">
            <a:avLst/>
          </a:prstGeom>
          <a:noFill/>
        </p:spPr>
        <p:txBody>
          <a:bodyPr wrap="square">
            <a:spAutoFit/>
          </a:bodyPr>
          <a:lstStyle/>
          <a:p>
            <a:pPr marL="342900" indent="-342900">
              <a:buFont typeface="Arial" panose="020B0604020202020204" pitchFamily="34" charset="0"/>
              <a:buChar char="•"/>
            </a:pPr>
            <a:r>
              <a:rPr lang="en-SG" sz="2800" b="1" dirty="0"/>
              <a:t>41–60 age group</a:t>
            </a:r>
            <a:r>
              <a:rPr lang="en-SG" sz="2800" dirty="0"/>
              <a:t> contributes the highest revenue share</a:t>
            </a:r>
          </a:p>
          <a:p>
            <a:pPr marL="342900" indent="-342900">
              <a:buFont typeface="Arial" panose="020B0604020202020204" pitchFamily="34" charset="0"/>
              <a:buChar char="•"/>
            </a:pPr>
            <a:endParaRPr lang="en-SG" sz="2800" b="1" dirty="0"/>
          </a:p>
          <a:p>
            <a:pPr marL="342900" indent="-342900">
              <a:buFont typeface="Arial" panose="020B0604020202020204" pitchFamily="34" charset="0"/>
              <a:buChar char="•"/>
            </a:pPr>
            <a:r>
              <a:rPr lang="en-SG" sz="2800" b="1" dirty="0"/>
              <a:t>The mid-value customer segment </a:t>
            </a:r>
            <a:r>
              <a:rPr lang="en-SG" sz="2800" dirty="0"/>
              <a:t>consistently delivers the highest profitability, regardless of income group.</a:t>
            </a:r>
          </a:p>
          <a:p>
            <a:pPr marL="342900" indent="-342900">
              <a:buFont typeface="Arial" panose="020B0604020202020204" pitchFamily="34" charset="0"/>
              <a:buChar char="•"/>
            </a:pPr>
            <a:endParaRPr lang="en-SG" sz="2800" dirty="0"/>
          </a:p>
          <a:p>
            <a:pPr marL="342900" indent="-342900">
              <a:buFont typeface="Arial" panose="020B0604020202020204" pitchFamily="34" charset="0"/>
              <a:buChar char="•"/>
            </a:pPr>
            <a:r>
              <a:rPr lang="en-SG" sz="2800" b="1" dirty="0"/>
              <a:t>Gender split ~50/50</a:t>
            </a:r>
            <a:r>
              <a:rPr lang="en-SG" sz="2800" dirty="0"/>
              <a:t>; males show slightly higher average spend.</a:t>
            </a:r>
          </a:p>
          <a:p>
            <a:pPr marL="342900" indent="-342900">
              <a:buFont typeface="Arial" panose="020B0604020202020204" pitchFamily="34" charset="0"/>
              <a:buChar char="•"/>
            </a:pPr>
            <a:endParaRPr lang="en-SG" sz="2800" dirty="0"/>
          </a:p>
          <a:p>
            <a:pPr marL="342900" indent="-342900">
              <a:buFont typeface="Arial" panose="020B0604020202020204" pitchFamily="34" charset="0"/>
              <a:buChar char="•"/>
            </a:pPr>
            <a:r>
              <a:rPr lang="en-SG" sz="2800" b="1" dirty="0"/>
              <a:t>High-income customers</a:t>
            </a:r>
            <a:r>
              <a:rPr lang="en-SG" sz="2800" dirty="0"/>
              <a:t> generate ~35% of total sales.</a:t>
            </a:r>
          </a:p>
          <a:p>
            <a:pPr marL="342900" indent="-342900">
              <a:buFont typeface="Arial" panose="020B0604020202020204" pitchFamily="34" charset="0"/>
              <a:buChar char="•"/>
            </a:pPr>
            <a:endParaRPr lang="en-SG" sz="2800" dirty="0"/>
          </a:p>
          <a:p>
            <a:pPr marL="342900" indent="-342900">
              <a:buFont typeface="Arial" panose="020B0604020202020204" pitchFamily="34" charset="0"/>
              <a:buChar char="•"/>
            </a:pPr>
            <a:r>
              <a:rPr lang="en-SG" sz="2800" b="1" dirty="0"/>
              <a:t>Top 10 customers</a:t>
            </a:r>
            <a:r>
              <a:rPr lang="en-SG" sz="2800" dirty="0"/>
              <a:t> contribute only ~1.5% of sales — low revenue concentration risk.</a:t>
            </a:r>
          </a:p>
          <a:p>
            <a:pPr marL="457200" indent="-457200">
              <a:buFont typeface="Arial" panose="020B0604020202020204" pitchFamily="34" charset="0"/>
              <a:buChar char="•"/>
            </a:pPr>
            <a:endParaRPr lang="en-SG" sz="4000" dirty="0"/>
          </a:p>
        </p:txBody>
      </p:sp>
    </p:spTree>
    <p:extLst>
      <p:ext uri="{BB962C8B-B14F-4D97-AF65-F5344CB8AC3E}">
        <p14:creationId xmlns:p14="http://schemas.microsoft.com/office/powerpoint/2010/main" val="838910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9BC4401D-EAF2-49F5-9E41-285DE7017E7F}"/>
              </a:ext>
            </a:extLst>
          </p:cNvPr>
          <p:cNvSpPr/>
          <p:nvPr/>
        </p:nvSpPr>
        <p:spPr>
          <a:xfrm>
            <a:off x="964241" y="308236"/>
            <a:ext cx="9819379" cy="566976"/>
          </a:xfrm>
          <a:prstGeom prst="rect">
            <a:avLst/>
          </a:prstGeom>
          <a:noFill/>
          <a:ln/>
        </p:spPr>
        <p:txBody>
          <a:bodyPr wrap="none" lIns="0" tIns="0" rIns="0" bIns="0" rtlCol="0" anchor="t"/>
          <a:lstStyle/>
          <a:p>
            <a:pPr algn="ctr">
              <a:lnSpc>
                <a:spcPts val="4450"/>
              </a:lnSpc>
            </a:pPr>
            <a:r>
              <a:rPr lang="en-US" sz="3200" b="1" dirty="0">
                <a:solidFill>
                  <a:srgbClr val="233E32"/>
                </a:solidFill>
                <a:ea typeface="Alice" pitchFamily="34" charset="-122"/>
              </a:rPr>
              <a:t>🧮 </a:t>
            </a:r>
            <a:r>
              <a:rPr lang="en-SG" sz="3200" b="1" dirty="0">
                <a:solidFill>
                  <a:srgbClr val="233E32"/>
                </a:solidFill>
                <a:ea typeface="Alice" pitchFamily="34" charset="-122"/>
              </a:rPr>
              <a:t>Customer Segmentation &amp; Profitability Analysis</a:t>
            </a:r>
            <a:endParaRPr lang="en-US" sz="3200" b="1" dirty="0">
              <a:solidFill>
                <a:srgbClr val="233E32"/>
              </a:solidFill>
              <a:ea typeface="Alice" pitchFamily="34" charset="-122"/>
            </a:endParaRPr>
          </a:p>
        </p:txBody>
      </p:sp>
      <p:pic>
        <p:nvPicPr>
          <p:cNvPr id="4" name="Picture 3">
            <a:extLst>
              <a:ext uri="{FF2B5EF4-FFF2-40B4-BE49-F238E27FC236}">
                <a16:creationId xmlns:a16="http://schemas.microsoft.com/office/drawing/2014/main" id="{98D93514-D0F2-4C4C-8D2D-6E2166C3D331}"/>
              </a:ext>
            </a:extLst>
          </p:cNvPr>
          <p:cNvPicPr>
            <a:picLocks noChangeAspect="1"/>
          </p:cNvPicPr>
          <p:nvPr/>
        </p:nvPicPr>
        <p:blipFill>
          <a:blip r:embed="rId3"/>
          <a:stretch>
            <a:fillRect/>
          </a:stretch>
        </p:blipFill>
        <p:spPr>
          <a:xfrm>
            <a:off x="362642" y="1261667"/>
            <a:ext cx="6727882" cy="4842249"/>
          </a:xfrm>
          <a:prstGeom prst="rect">
            <a:avLst/>
          </a:prstGeom>
        </p:spPr>
      </p:pic>
      <p:pic>
        <p:nvPicPr>
          <p:cNvPr id="5" name="Picture 4">
            <a:extLst>
              <a:ext uri="{FF2B5EF4-FFF2-40B4-BE49-F238E27FC236}">
                <a16:creationId xmlns:a16="http://schemas.microsoft.com/office/drawing/2014/main" id="{5F149818-1FFC-4197-B661-B795E17AC25F}"/>
              </a:ext>
            </a:extLst>
          </p:cNvPr>
          <p:cNvPicPr>
            <a:picLocks noChangeAspect="1"/>
          </p:cNvPicPr>
          <p:nvPr/>
        </p:nvPicPr>
        <p:blipFill>
          <a:blip r:embed="rId4"/>
          <a:stretch>
            <a:fillRect/>
          </a:stretch>
        </p:blipFill>
        <p:spPr>
          <a:xfrm>
            <a:off x="8344928" y="5582722"/>
            <a:ext cx="3625006" cy="1275278"/>
          </a:xfrm>
          <a:prstGeom prst="rect">
            <a:avLst/>
          </a:prstGeom>
        </p:spPr>
      </p:pic>
      <p:sp>
        <p:nvSpPr>
          <p:cNvPr id="6" name="TextBox 5">
            <a:extLst>
              <a:ext uri="{FF2B5EF4-FFF2-40B4-BE49-F238E27FC236}">
                <a16:creationId xmlns:a16="http://schemas.microsoft.com/office/drawing/2014/main" id="{F7A18BB7-229D-489E-AE87-9FABF727A1CF}"/>
              </a:ext>
            </a:extLst>
          </p:cNvPr>
          <p:cNvSpPr txBox="1"/>
          <p:nvPr/>
        </p:nvSpPr>
        <p:spPr>
          <a:xfrm>
            <a:off x="6432884" y="1261667"/>
            <a:ext cx="5537050" cy="5262979"/>
          </a:xfrm>
          <a:prstGeom prst="rect">
            <a:avLst/>
          </a:prstGeom>
          <a:noFill/>
        </p:spPr>
        <p:txBody>
          <a:bodyPr wrap="square" rtlCol="0">
            <a:spAutoFit/>
          </a:bodyPr>
          <a:lstStyle/>
          <a:p>
            <a:pPr>
              <a:buFont typeface="Arial" panose="020B0604020202020204" pitchFamily="34" charset="0"/>
              <a:buNone/>
            </a:pPr>
            <a:r>
              <a:rPr lang="en-SG" sz="2400" dirty="0">
                <a:cs typeface="Segoe UI" panose="020B0502040204020203" pitchFamily="34" charset="0"/>
              </a:rPr>
              <a:t>• Mid-Value customers generate the highest total profit (~165 M).</a:t>
            </a:r>
          </a:p>
          <a:p>
            <a:pPr>
              <a:buFont typeface="Arial" panose="020B0604020202020204" pitchFamily="34" charset="0"/>
              <a:buNone/>
            </a:pPr>
            <a:br>
              <a:rPr lang="en-SG" sz="2400" dirty="0">
                <a:cs typeface="Segoe UI" panose="020B0502040204020203" pitchFamily="34" charset="0"/>
              </a:rPr>
            </a:br>
            <a:r>
              <a:rPr lang="en-SG" sz="2400" dirty="0">
                <a:cs typeface="Segoe UI" panose="020B0502040204020203" pitchFamily="34" charset="0"/>
              </a:rPr>
              <a:t>• High-Value customers show strong profitability (69 M) with high retention potential.</a:t>
            </a:r>
          </a:p>
          <a:p>
            <a:pPr>
              <a:buFont typeface="Arial" panose="020B0604020202020204" pitchFamily="34" charset="0"/>
              <a:buNone/>
            </a:pPr>
            <a:br>
              <a:rPr lang="en-SG" sz="2400" dirty="0">
                <a:cs typeface="Segoe UI" panose="020B0502040204020203" pitchFamily="34" charset="0"/>
              </a:rPr>
            </a:br>
            <a:r>
              <a:rPr lang="en-SG" sz="2400" dirty="0">
                <a:cs typeface="Segoe UI" panose="020B0502040204020203" pitchFamily="34" charset="0"/>
              </a:rPr>
              <a:t>• Low-Value customers contribute minimal profit (15 M).</a:t>
            </a:r>
          </a:p>
          <a:p>
            <a:pPr>
              <a:buFont typeface="Arial" panose="020B0604020202020204" pitchFamily="34" charset="0"/>
              <a:buNone/>
            </a:pPr>
            <a:br>
              <a:rPr lang="en-SG" sz="2400" dirty="0">
                <a:cs typeface="Segoe UI" panose="020B0502040204020203" pitchFamily="34" charset="0"/>
              </a:rPr>
            </a:br>
            <a:r>
              <a:rPr lang="en-SG" sz="2400" dirty="0">
                <a:cs typeface="Segoe UI" panose="020B0502040204020203" pitchFamily="34" charset="0"/>
              </a:rPr>
              <a:t>• AOV difference: High 6.64 K | Mid 5.05 K | Low 3.63 K.</a:t>
            </a:r>
          </a:p>
          <a:p>
            <a:pPr>
              <a:buFont typeface="Arial" panose="020B0604020202020204" pitchFamily="34" charset="0"/>
              <a:buNone/>
            </a:pPr>
            <a:endParaRPr lang="en-SG" sz="2400" dirty="0">
              <a:cs typeface="Segoe UI" panose="020B0502040204020203" pitchFamily="34" charset="0"/>
            </a:endParaRPr>
          </a:p>
          <a:p>
            <a:endParaRPr lang="en-SG" sz="2400" dirty="0"/>
          </a:p>
        </p:txBody>
      </p:sp>
    </p:spTree>
    <p:extLst>
      <p:ext uri="{BB962C8B-B14F-4D97-AF65-F5344CB8AC3E}">
        <p14:creationId xmlns:p14="http://schemas.microsoft.com/office/powerpoint/2010/main" val="928506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5DDB2B-FC01-46C1-855E-E71DECFD9870}"/>
              </a:ext>
            </a:extLst>
          </p:cNvPr>
          <p:cNvPicPr>
            <a:picLocks noChangeAspect="1"/>
          </p:cNvPicPr>
          <p:nvPr/>
        </p:nvPicPr>
        <p:blipFill>
          <a:blip r:embed="rId3"/>
          <a:stretch>
            <a:fillRect/>
          </a:stretch>
        </p:blipFill>
        <p:spPr>
          <a:xfrm>
            <a:off x="313152" y="113086"/>
            <a:ext cx="11762914" cy="6744914"/>
          </a:xfrm>
          <a:prstGeom prst="rect">
            <a:avLst/>
          </a:prstGeom>
        </p:spPr>
      </p:pic>
    </p:spTree>
    <p:extLst>
      <p:ext uri="{BB962C8B-B14F-4D97-AF65-F5344CB8AC3E}">
        <p14:creationId xmlns:p14="http://schemas.microsoft.com/office/powerpoint/2010/main" val="495225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9BC4401D-EAF2-49F5-9E41-285DE7017E7F}"/>
              </a:ext>
            </a:extLst>
          </p:cNvPr>
          <p:cNvSpPr/>
          <p:nvPr/>
        </p:nvSpPr>
        <p:spPr>
          <a:xfrm>
            <a:off x="964241" y="308236"/>
            <a:ext cx="9819379" cy="566976"/>
          </a:xfrm>
          <a:prstGeom prst="rect">
            <a:avLst/>
          </a:prstGeom>
          <a:noFill/>
          <a:ln/>
        </p:spPr>
        <p:txBody>
          <a:bodyPr wrap="none" lIns="0" tIns="0" rIns="0" bIns="0" rtlCol="0" anchor="t"/>
          <a:lstStyle/>
          <a:p>
            <a:pPr marL="0" indent="0" algn="ctr">
              <a:lnSpc>
                <a:spcPts val="4450"/>
              </a:lnSpc>
              <a:buNone/>
            </a:pPr>
            <a:r>
              <a:rPr lang="en-US" sz="3200" b="1" dirty="0">
                <a:solidFill>
                  <a:srgbClr val="000000"/>
                </a:solidFill>
                <a:latin typeface="Lucida Bright" panose="02040602050505020304" pitchFamily="18" charset="0"/>
                <a:ea typeface="Alice" pitchFamily="34" charset="-122"/>
                <a:cs typeface="Alice" pitchFamily="34" charset="-120"/>
              </a:rPr>
              <a:t>🧮</a:t>
            </a:r>
            <a:r>
              <a:rPr lang="en-US" sz="3200" b="1" dirty="0">
                <a:solidFill>
                  <a:srgbClr val="233E32"/>
                </a:solidFill>
                <a:latin typeface="Lucida Bright" panose="02040602050505020304" pitchFamily="18" charset="0"/>
                <a:ea typeface="Alice" pitchFamily="34" charset="-122"/>
                <a:cs typeface="Alice" pitchFamily="34" charset="-120"/>
              </a:rPr>
              <a:t> </a:t>
            </a:r>
            <a:r>
              <a:rPr lang="en-SG" sz="3200" b="1" dirty="0">
                <a:solidFill>
                  <a:srgbClr val="233E32"/>
                </a:solidFill>
                <a:latin typeface="Lucida Bright" panose="02040602050505020304" pitchFamily="18" charset="0"/>
                <a:ea typeface="Alice" pitchFamily="34" charset="-122"/>
              </a:rPr>
              <a:t>Geographic Performance </a:t>
            </a:r>
          </a:p>
          <a:p>
            <a:pPr marL="0" indent="0" algn="l">
              <a:lnSpc>
                <a:spcPts val="4450"/>
              </a:lnSpc>
              <a:buNone/>
            </a:pPr>
            <a:r>
              <a:rPr lang="en-SG" sz="3200" b="1" dirty="0">
                <a:solidFill>
                  <a:srgbClr val="233E32"/>
                </a:solidFill>
                <a:latin typeface="Lucida Bright" panose="02040602050505020304" pitchFamily="18" charset="0"/>
                <a:ea typeface="Alice" pitchFamily="34" charset="-122"/>
              </a:rPr>
              <a:t>	(Revenue by Country &amp; Product Interaction)</a:t>
            </a:r>
            <a:endParaRPr lang="en-US" sz="3200" b="1" dirty="0">
              <a:solidFill>
                <a:srgbClr val="233E32"/>
              </a:solidFill>
              <a:latin typeface="Lucida Bright" panose="02040602050505020304" pitchFamily="18" charset="0"/>
              <a:ea typeface="Alice" pitchFamily="34" charset="-122"/>
            </a:endParaRPr>
          </a:p>
        </p:txBody>
      </p:sp>
      <p:pic>
        <p:nvPicPr>
          <p:cNvPr id="4" name="Picture 3">
            <a:extLst>
              <a:ext uri="{FF2B5EF4-FFF2-40B4-BE49-F238E27FC236}">
                <a16:creationId xmlns:a16="http://schemas.microsoft.com/office/drawing/2014/main" id="{87408688-4D91-48FD-BF36-F793702FEA67}"/>
              </a:ext>
            </a:extLst>
          </p:cNvPr>
          <p:cNvPicPr>
            <a:picLocks noChangeAspect="1"/>
          </p:cNvPicPr>
          <p:nvPr/>
        </p:nvPicPr>
        <p:blipFill>
          <a:blip r:embed="rId3"/>
          <a:stretch>
            <a:fillRect/>
          </a:stretch>
        </p:blipFill>
        <p:spPr>
          <a:xfrm>
            <a:off x="601249" y="46460"/>
            <a:ext cx="11235847" cy="5228264"/>
          </a:xfrm>
          <a:prstGeom prst="rect">
            <a:avLst/>
          </a:prstGeom>
        </p:spPr>
      </p:pic>
      <p:sp>
        <p:nvSpPr>
          <p:cNvPr id="8" name="TextBox 7">
            <a:extLst>
              <a:ext uri="{FF2B5EF4-FFF2-40B4-BE49-F238E27FC236}">
                <a16:creationId xmlns:a16="http://schemas.microsoft.com/office/drawing/2014/main" id="{B25566FC-6134-43E2-B329-52D99EE13C6D}"/>
              </a:ext>
            </a:extLst>
          </p:cNvPr>
          <p:cNvSpPr txBox="1"/>
          <p:nvPr/>
        </p:nvSpPr>
        <p:spPr>
          <a:xfrm>
            <a:off x="746235" y="4133884"/>
            <a:ext cx="10962290" cy="2677656"/>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SG" sz="2400" b="1" dirty="0"/>
              <a:t>Colombia (74 M)</a:t>
            </a:r>
            <a:r>
              <a:rPr lang="en-SG" sz="2400" dirty="0"/>
              <a:t> and </a:t>
            </a:r>
            <a:r>
              <a:rPr lang="en-SG" sz="2400" b="1" dirty="0"/>
              <a:t>Chile (67 M)</a:t>
            </a:r>
            <a:r>
              <a:rPr lang="en-SG" sz="2400" dirty="0"/>
              <a:t> remain key markets, contributing over </a:t>
            </a:r>
            <a:r>
              <a:rPr lang="en-SG" sz="2400" b="1" dirty="0"/>
              <a:t>50 %</a:t>
            </a:r>
            <a:r>
              <a:rPr lang="en-SG" sz="2400" dirty="0"/>
              <a:t> of total revenue.</a:t>
            </a:r>
          </a:p>
          <a:p>
            <a:pPr marL="285750" indent="-285750">
              <a:buFont typeface="Arial" panose="020B0604020202020204" pitchFamily="34" charset="0"/>
              <a:buChar char="•"/>
            </a:pPr>
            <a:r>
              <a:rPr lang="en-SG" sz="2400" b="1" dirty="0"/>
              <a:t>Home &amp; Décor</a:t>
            </a:r>
            <a:r>
              <a:rPr lang="en-SG" sz="2400" dirty="0"/>
              <a:t> products — </a:t>
            </a:r>
            <a:r>
              <a:rPr lang="en-SG" sz="2400" i="1" dirty="0"/>
              <a:t>Curtains, Wall Art, Furniture, Lighting</a:t>
            </a:r>
            <a:r>
              <a:rPr lang="en-SG" sz="2400" dirty="0"/>
              <a:t> — together drive nearly </a:t>
            </a:r>
            <a:r>
              <a:rPr lang="en-SG" sz="2400" b="1" dirty="0"/>
              <a:t>two-thirds</a:t>
            </a:r>
            <a:r>
              <a:rPr lang="en-SG" sz="2400" dirty="0"/>
              <a:t> of sales.</a:t>
            </a:r>
          </a:p>
          <a:p>
            <a:pPr marL="285750" indent="-285750">
              <a:buFont typeface="Arial" panose="020B0604020202020204" pitchFamily="34" charset="0"/>
              <a:buChar char="•"/>
            </a:pPr>
            <a:r>
              <a:rPr lang="en-SG" sz="2400" b="1" dirty="0"/>
              <a:t>Mid-Value customers</a:t>
            </a:r>
            <a:r>
              <a:rPr lang="en-SG" sz="2400" dirty="0"/>
              <a:t> deliver the largest share of revenue through steady order volumes.</a:t>
            </a:r>
          </a:p>
          <a:p>
            <a:pPr marL="285750" indent="-285750">
              <a:buFont typeface="Arial" panose="020B0604020202020204" pitchFamily="34" charset="0"/>
              <a:buChar char="•"/>
            </a:pPr>
            <a:r>
              <a:rPr lang="en-SG" sz="2400" b="1" dirty="0"/>
              <a:t>41–60 age group</a:t>
            </a:r>
            <a:r>
              <a:rPr lang="en-SG" sz="2400" dirty="0"/>
              <a:t> stands out as the most profitable and loyal segment</a:t>
            </a:r>
            <a:endParaRPr lang="en-SG" sz="2000" dirty="0"/>
          </a:p>
        </p:txBody>
      </p:sp>
    </p:spTree>
    <p:extLst>
      <p:ext uri="{BB962C8B-B14F-4D97-AF65-F5344CB8AC3E}">
        <p14:creationId xmlns:p14="http://schemas.microsoft.com/office/powerpoint/2010/main" val="2193632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59C97E-B91A-4D4D-9AFA-89BA8EC6A2AF}"/>
              </a:ext>
            </a:extLst>
          </p:cNvPr>
          <p:cNvPicPr>
            <a:picLocks noChangeAspect="1"/>
          </p:cNvPicPr>
          <p:nvPr/>
        </p:nvPicPr>
        <p:blipFill>
          <a:blip r:embed="rId3"/>
          <a:stretch>
            <a:fillRect/>
          </a:stretch>
        </p:blipFill>
        <p:spPr>
          <a:xfrm>
            <a:off x="-1" y="208907"/>
            <a:ext cx="9723389" cy="6340197"/>
          </a:xfrm>
          <a:prstGeom prst="rect">
            <a:avLst/>
          </a:prstGeom>
        </p:spPr>
      </p:pic>
      <p:sp>
        <p:nvSpPr>
          <p:cNvPr id="5" name="TextBox 4">
            <a:extLst>
              <a:ext uri="{FF2B5EF4-FFF2-40B4-BE49-F238E27FC236}">
                <a16:creationId xmlns:a16="http://schemas.microsoft.com/office/drawing/2014/main" id="{68E8456D-8D01-4499-B4D2-78FEC08C8FAB}"/>
              </a:ext>
            </a:extLst>
          </p:cNvPr>
          <p:cNvSpPr txBox="1"/>
          <p:nvPr/>
        </p:nvSpPr>
        <p:spPr>
          <a:xfrm>
            <a:off x="7816241" y="476250"/>
            <a:ext cx="4375759" cy="6340197"/>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SG" sz="2400" dirty="0"/>
              <a:t>Revenue increases steadily as discounts rise up to </a:t>
            </a:r>
            <a:r>
              <a:rPr lang="en-SG" sz="2400" b="1" dirty="0"/>
              <a:t>30 %</a:t>
            </a:r>
            <a:r>
              <a:rPr lang="en-SG" sz="2400" dirty="0"/>
              <a:t>, showing moderate price sensitivity.</a:t>
            </a:r>
          </a:p>
          <a:p>
            <a:pPr marL="285750" indent="-285750">
              <a:buFont typeface="Arial" panose="020B0604020202020204" pitchFamily="34" charset="0"/>
              <a:buChar char="•"/>
            </a:pPr>
            <a:endParaRPr lang="en-SG" sz="2400" dirty="0"/>
          </a:p>
          <a:p>
            <a:pPr marL="285750" indent="-285750">
              <a:buFont typeface="Arial" panose="020B0604020202020204" pitchFamily="34" charset="0"/>
              <a:buChar char="•"/>
            </a:pPr>
            <a:r>
              <a:rPr lang="en-SG" sz="2400" dirty="0"/>
              <a:t>Profit peaks between </a:t>
            </a:r>
            <a:r>
              <a:rPr lang="en-SG" sz="2400" b="1" dirty="0"/>
              <a:t>0  – 20 %</a:t>
            </a:r>
            <a:r>
              <a:rPr lang="en-SG" sz="2400" dirty="0"/>
              <a:t> discount range — the optimal “sweet spot.”</a:t>
            </a:r>
          </a:p>
          <a:p>
            <a:pPr marL="285750" indent="-285750">
              <a:buFont typeface="Arial" panose="020B0604020202020204" pitchFamily="34" charset="0"/>
              <a:buChar char="•"/>
            </a:pPr>
            <a:endParaRPr lang="en-SG" sz="2400" dirty="0"/>
          </a:p>
          <a:p>
            <a:pPr marL="285750" indent="-285750">
              <a:buFont typeface="Arial" panose="020B0604020202020204" pitchFamily="34" charset="0"/>
              <a:buChar char="•"/>
            </a:pPr>
            <a:r>
              <a:rPr lang="en-SG" sz="2400" dirty="0"/>
              <a:t>Beyond </a:t>
            </a:r>
            <a:r>
              <a:rPr lang="en-SG" sz="2400" b="1" dirty="0"/>
              <a:t>30 %</a:t>
            </a:r>
            <a:r>
              <a:rPr lang="en-SG" sz="2400" dirty="0"/>
              <a:t>, profit declines sharply, indicating over-discounting hurts margins.</a:t>
            </a:r>
          </a:p>
          <a:p>
            <a:pPr marL="285750" indent="-285750">
              <a:buFont typeface="Arial" panose="020B0604020202020204" pitchFamily="34" charset="0"/>
              <a:buChar char="•"/>
            </a:pPr>
            <a:endParaRPr lang="en-SG" sz="2400" dirty="0"/>
          </a:p>
          <a:p>
            <a:pPr marL="285750" indent="-285750">
              <a:buFont typeface="Arial" panose="020B0604020202020204" pitchFamily="34" charset="0"/>
              <a:buChar char="•"/>
            </a:pPr>
            <a:r>
              <a:rPr lang="en-SG" sz="2400" dirty="0"/>
              <a:t>Discounts over </a:t>
            </a:r>
            <a:r>
              <a:rPr lang="en-SG" sz="2400" b="1" dirty="0"/>
              <a:t>40 %</a:t>
            </a:r>
            <a:r>
              <a:rPr lang="en-SG" sz="2400" dirty="0"/>
              <a:t> may lift sales volume but erode profitability significantly.</a:t>
            </a:r>
          </a:p>
          <a:p>
            <a:endParaRPr lang="en-SG" sz="2200" dirty="0"/>
          </a:p>
        </p:txBody>
      </p:sp>
    </p:spTree>
    <p:extLst>
      <p:ext uri="{BB962C8B-B14F-4D97-AF65-F5344CB8AC3E}">
        <p14:creationId xmlns:p14="http://schemas.microsoft.com/office/powerpoint/2010/main" val="278821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633992" y="1039956"/>
            <a:ext cx="5243025" cy="566976"/>
          </a:xfrm>
          <a:prstGeom prst="rect">
            <a:avLst/>
          </a:prstGeom>
          <a:noFill/>
          <a:ln/>
        </p:spPr>
        <p:txBody>
          <a:bodyPr wrap="none" lIns="0" tIns="0" rIns="0" bIns="0" rtlCol="0" anchor="t"/>
          <a:lstStyle/>
          <a:p>
            <a:pPr marL="0" indent="0" algn="l">
              <a:lnSpc>
                <a:spcPts val="4450"/>
              </a:lnSpc>
              <a:buNone/>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Overall Summary</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6">
            <a:extLst>
              <a:ext uri="{FF2B5EF4-FFF2-40B4-BE49-F238E27FC236}">
                <a16:creationId xmlns:a16="http://schemas.microsoft.com/office/drawing/2014/main" id="{7C91012E-F473-4295-B3FD-EC54A1046E78}"/>
              </a:ext>
            </a:extLst>
          </p:cNvPr>
          <p:cNvSpPr/>
          <p:nvPr/>
        </p:nvSpPr>
        <p:spPr>
          <a:xfrm>
            <a:off x="316995" y="2074468"/>
            <a:ext cx="11558009" cy="4219104"/>
          </a:xfrm>
          <a:prstGeom prst="rect">
            <a:avLst/>
          </a:prstGeom>
          <a:noFill/>
          <a:ln/>
        </p:spPr>
        <p:txBody>
          <a:bodyPr wrap="square" lIns="0" tIns="0" rIns="0" bIns="0" rtlCol="0" anchor="t">
            <a:spAutoFit/>
          </a:bodyPr>
          <a:lstStyle/>
          <a:p>
            <a:pPr marL="342900" indent="-342900">
              <a:buFont typeface="Arial" panose="020B0604020202020204" pitchFamily="34" charset="0"/>
              <a:buChar char="•"/>
            </a:pPr>
            <a:r>
              <a:rPr lang="en-SG" sz="2500" b="1" dirty="0"/>
              <a:t>Total revenue:</a:t>
            </a:r>
            <a:r>
              <a:rPr lang="en-SG" sz="2500" dirty="0"/>
              <a:t> </a:t>
            </a:r>
            <a:r>
              <a:rPr lang="en-SG" sz="2500" b="1" dirty="0"/>
              <a:t>S$263.7M</a:t>
            </a:r>
            <a:r>
              <a:rPr lang="en-SG" sz="2500" dirty="0"/>
              <a:t>, led by </a:t>
            </a:r>
            <a:r>
              <a:rPr lang="en-SG" sz="2500" b="1" dirty="0"/>
              <a:t>Mid-Value customers</a:t>
            </a:r>
            <a:r>
              <a:rPr lang="en-SG" sz="2500" dirty="0"/>
              <a:t> (largest profit pool).</a:t>
            </a:r>
          </a:p>
          <a:p>
            <a:pPr marL="342900" indent="-342900">
              <a:buFont typeface="Arial" panose="020B0604020202020204" pitchFamily="34" charset="0"/>
              <a:buChar char="•"/>
            </a:pPr>
            <a:r>
              <a:rPr lang="en-SG" sz="2500" b="1" dirty="0"/>
              <a:t>Markets:</a:t>
            </a:r>
            <a:r>
              <a:rPr lang="en-SG" sz="2500" dirty="0"/>
              <a:t> </a:t>
            </a:r>
            <a:r>
              <a:rPr lang="en-SG" sz="2500" b="1" dirty="0"/>
              <a:t>Colombia (~74M)</a:t>
            </a:r>
            <a:r>
              <a:rPr lang="en-SG" sz="2500" dirty="0"/>
              <a:t> and </a:t>
            </a:r>
            <a:r>
              <a:rPr lang="en-SG" sz="2500" b="1" dirty="0"/>
              <a:t>Chile (~67M)</a:t>
            </a:r>
            <a:r>
              <a:rPr lang="en-SG" sz="2500" dirty="0"/>
              <a:t> together deliver </a:t>
            </a:r>
            <a:r>
              <a:rPr lang="en-SG" sz="2500" b="1" dirty="0"/>
              <a:t>&gt;50% of sales</a:t>
            </a:r>
            <a:r>
              <a:rPr lang="en-SG" sz="2500" dirty="0"/>
              <a:t>; both show stable demand.</a:t>
            </a:r>
          </a:p>
          <a:p>
            <a:pPr marL="342900" indent="-342900">
              <a:buFont typeface="Arial" panose="020B0604020202020204" pitchFamily="34" charset="0"/>
              <a:buChar char="•"/>
            </a:pPr>
            <a:r>
              <a:rPr lang="en-SG" sz="2500" b="1" dirty="0"/>
              <a:t>Product mix:</a:t>
            </a:r>
            <a:r>
              <a:rPr lang="en-SG" sz="2500" dirty="0"/>
              <a:t> </a:t>
            </a:r>
            <a:r>
              <a:rPr lang="en-SG" sz="2500" b="1" dirty="0"/>
              <a:t>Home &amp; Décor</a:t>
            </a:r>
            <a:r>
              <a:rPr lang="en-SG" sz="2500" dirty="0"/>
              <a:t> (curtains, wall art, furniture, lighting) is the core revenue engine.</a:t>
            </a:r>
          </a:p>
          <a:p>
            <a:pPr marL="342900" indent="-342900">
              <a:buFont typeface="Arial" panose="020B0604020202020204" pitchFamily="34" charset="0"/>
              <a:buChar char="•"/>
            </a:pPr>
            <a:r>
              <a:rPr lang="en-SG" sz="2500" b="1" dirty="0"/>
              <a:t>Discount </a:t>
            </a:r>
            <a:r>
              <a:rPr lang="en-SG" sz="2500" b="1" dirty="0" err="1"/>
              <a:t>behavior</a:t>
            </a:r>
            <a:r>
              <a:rPr lang="en-SG" sz="2500" b="1" dirty="0"/>
              <a:t>:</a:t>
            </a:r>
            <a:r>
              <a:rPr lang="en-SG" sz="2500" dirty="0"/>
              <a:t> Revenue increases as discounts rise, but </a:t>
            </a:r>
            <a:r>
              <a:rPr lang="en-SG" sz="2500" b="1" dirty="0"/>
              <a:t>profit is strongest in the 10–30% band</a:t>
            </a:r>
            <a:r>
              <a:rPr lang="en-SG" sz="2500" dirty="0"/>
              <a:t>.</a:t>
            </a:r>
          </a:p>
          <a:p>
            <a:pPr marL="342900" indent="-342900">
              <a:buFont typeface="Arial" panose="020B0604020202020204" pitchFamily="34" charset="0"/>
              <a:buChar char="•"/>
            </a:pPr>
            <a:r>
              <a:rPr lang="en-SG" sz="2500" b="1" dirty="0"/>
              <a:t>Seasonality:</a:t>
            </a:r>
            <a:r>
              <a:rPr lang="en-SG" sz="2500" dirty="0"/>
              <a:t> Strong </a:t>
            </a:r>
            <a:r>
              <a:rPr lang="en-SG" sz="2500" b="1" dirty="0"/>
              <a:t>Q4 peaks (Oct–Dec)</a:t>
            </a:r>
            <a:r>
              <a:rPr lang="en-SG" sz="2500" dirty="0"/>
              <a:t> → need capacity and stock readiness.</a:t>
            </a:r>
          </a:p>
          <a:p>
            <a:pPr marL="342900" indent="-342900">
              <a:buFont typeface="Arial" panose="020B0604020202020204" pitchFamily="34" charset="0"/>
              <a:buChar char="•"/>
            </a:pPr>
            <a:r>
              <a:rPr lang="en-SG" sz="2500" b="1" dirty="0"/>
              <a:t>Customer structure:</a:t>
            </a:r>
            <a:r>
              <a:rPr lang="en-SG" sz="2500" dirty="0"/>
              <a:t> High-Value segment is smaller but profitable; Mid-Value is broad and repeat-driven.</a:t>
            </a:r>
          </a:p>
          <a:p>
            <a:pPr algn="l">
              <a:lnSpc>
                <a:spcPts val="2850"/>
              </a:lnSpc>
              <a:buSzPct val="100000"/>
            </a:pPr>
            <a:endParaRPr lang="en-US" sz="2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7420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633991" y="636195"/>
            <a:ext cx="5243025" cy="566976"/>
          </a:xfrm>
          <a:prstGeom prst="rect">
            <a:avLst/>
          </a:prstGeom>
          <a:noFill/>
          <a:ln/>
        </p:spPr>
        <p:txBody>
          <a:bodyPr wrap="none" lIns="0" tIns="0" rIns="0" bIns="0" rtlCol="0" anchor="t"/>
          <a:lstStyle/>
          <a:p>
            <a:pPr>
              <a:lnSpc>
                <a:spcPts val="4450"/>
              </a:lnSpc>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a:t>
            </a:r>
            <a:r>
              <a:rPr lang="en-SG" sz="4400" b="1" dirty="0">
                <a:solidFill>
                  <a:srgbClr val="233E32"/>
                </a:solidFill>
                <a:latin typeface="Calibri" panose="020F0502020204030204" pitchFamily="34" charset="0"/>
                <a:ea typeface="Calibri" panose="020F0502020204030204" pitchFamily="34" charset="0"/>
                <a:cs typeface="Calibri" panose="020F0502020204030204" pitchFamily="34" charset="0"/>
              </a:rPr>
              <a:t>Strategic Actions &amp; Next Steps</a:t>
            </a:r>
          </a:p>
        </p:txBody>
      </p:sp>
      <p:sp>
        <p:nvSpPr>
          <p:cNvPr id="8" name="Text 6">
            <a:extLst>
              <a:ext uri="{FF2B5EF4-FFF2-40B4-BE49-F238E27FC236}">
                <a16:creationId xmlns:a16="http://schemas.microsoft.com/office/drawing/2014/main" id="{7C91012E-F473-4295-B3FD-EC54A1046E78}"/>
              </a:ext>
            </a:extLst>
          </p:cNvPr>
          <p:cNvSpPr/>
          <p:nvPr/>
        </p:nvSpPr>
        <p:spPr>
          <a:xfrm>
            <a:off x="771777" y="1338151"/>
            <a:ext cx="11558009" cy="6579815"/>
          </a:xfrm>
          <a:prstGeom prst="rect">
            <a:avLst/>
          </a:prstGeom>
          <a:noFill/>
          <a:ln/>
        </p:spPr>
        <p:txBody>
          <a:bodyPr wrap="square" lIns="0" tIns="0" rIns="0" bIns="0" rtlCol="0" anchor="t">
            <a:spAutoFit/>
          </a:bodyPr>
          <a:lstStyle/>
          <a:p>
            <a:r>
              <a:rPr lang="en-SG" sz="2800" b="1" dirty="0"/>
              <a:t>1. Protect &amp; grow core customers</a:t>
            </a:r>
          </a:p>
          <a:p>
            <a:pPr marL="342900" indent="-342900">
              <a:buFont typeface="Arial" panose="020B0604020202020204" pitchFamily="34" charset="0"/>
              <a:buChar char="•"/>
            </a:pPr>
            <a:r>
              <a:rPr lang="en-SG" sz="2400" dirty="0"/>
              <a:t>Retain </a:t>
            </a:r>
            <a:r>
              <a:rPr lang="en-SG" sz="2400" b="1" dirty="0"/>
              <a:t>High-Value</a:t>
            </a:r>
            <a:r>
              <a:rPr lang="en-SG" sz="2400" dirty="0"/>
              <a:t> customers through loyalty and personalization.</a:t>
            </a:r>
          </a:p>
          <a:p>
            <a:pPr marL="342900" indent="-342900">
              <a:buFont typeface="Arial" panose="020B0604020202020204" pitchFamily="34" charset="0"/>
              <a:buChar char="•"/>
            </a:pPr>
            <a:r>
              <a:rPr lang="en-SG" sz="2400" dirty="0"/>
              <a:t>Upsell </a:t>
            </a:r>
            <a:r>
              <a:rPr lang="en-SG" sz="2400" b="1" dirty="0"/>
              <a:t>Mid-Value</a:t>
            </a:r>
            <a:r>
              <a:rPr lang="en-SG" sz="2400" dirty="0"/>
              <a:t> customers via bundle promotions.</a:t>
            </a:r>
          </a:p>
          <a:p>
            <a:pPr marL="342900" indent="-342900">
              <a:buFont typeface="Arial" panose="020B0604020202020204" pitchFamily="34" charset="0"/>
              <a:buChar char="•"/>
            </a:pPr>
            <a:r>
              <a:rPr lang="en-SG" sz="2400" dirty="0"/>
              <a:t>Target </a:t>
            </a:r>
            <a:r>
              <a:rPr lang="en-SG" sz="2400" b="1" dirty="0"/>
              <a:t>41–60</a:t>
            </a:r>
            <a:r>
              <a:rPr lang="en-SG" sz="2400" dirty="0"/>
              <a:t> age group with </a:t>
            </a:r>
            <a:r>
              <a:rPr lang="en-SG" sz="2400" b="1" dirty="0"/>
              <a:t>higher-ticket </a:t>
            </a:r>
            <a:r>
              <a:rPr lang="en-SG" sz="2400" dirty="0"/>
              <a:t>décor sets.</a:t>
            </a:r>
          </a:p>
          <a:p>
            <a:pPr marL="342900" indent="-342900">
              <a:buFont typeface="Arial" panose="020B0604020202020204" pitchFamily="34" charset="0"/>
              <a:buChar char="•"/>
            </a:pPr>
            <a:r>
              <a:rPr lang="en-SG" sz="2400" dirty="0"/>
              <a:t>Expand </a:t>
            </a:r>
            <a:r>
              <a:rPr lang="en-SG" sz="2400" b="1" dirty="0"/>
              <a:t>digital targeting</a:t>
            </a:r>
            <a:r>
              <a:rPr lang="en-SG" sz="2400" dirty="0"/>
              <a:t> to younger segments.</a:t>
            </a:r>
          </a:p>
          <a:p>
            <a:r>
              <a:rPr lang="en-SG" sz="2800" b="1" dirty="0"/>
              <a:t>2. Optimize discount &amp; margin</a:t>
            </a:r>
            <a:endParaRPr lang="en-SG" sz="3200" dirty="0"/>
          </a:p>
          <a:p>
            <a:pPr marL="742950" lvl="1" indent="-285750">
              <a:buFont typeface="Arial" panose="020B0604020202020204" pitchFamily="34" charset="0"/>
              <a:buChar char="•"/>
            </a:pPr>
            <a:r>
              <a:rPr lang="en-SG" sz="2400" dirty="0"/>
              <a:t>Cap promos &gt;</a:t>
            </a:r>
            <a:r>
              <a:rPr lang="en-SG" sz="2400" b="1" dirty="0"/>
              <a:t>30% </a:t>
            </a:r>
            <a:r>
              <a:rPr lang="en-SG" sz="2400" dirty="0"/>
              <a:t>to selected SKUs only.</a:t>
            </a:r>
          </a:p>
          <a:p>
            <a:pPr marL="742950" lvl="1" indent="-285750">
              <a:buFont typeface="Arial" panose="020B0604020202020204" pitchFamily="34" charset="0"/>
              <a:buChar char="•"/>
            </a:pPr>
            <a:r>
              <a:rPr lang="en-SG" sz="2400" dirty="0"/>
              <a:t>Run monthly discount effectiveness report from Power BI.</a:t>
            </a:r>
          </a:p>
          <a:p>
            <a:r>
              <a:rPr lang="en-SG" sz="2800" b="1" dirty="0"/>
              <a:t>3. Operational readiness for Q4 &amp; expansion</a:t>
            </a:r>
          </a:p>
          <a:p>
            <a:pPr marL="742950" lvl="1" indent="-285750">
              <a:buFont typeface="Arial" panose="020B0604020202020204" pitchFamily="34" charset="0"/>
              <a:buChar char="•"/>
            </a:pPr>
            <a:r>
              <a:rPr lang="en-SG" sz="2400" dirty="0"/>
              <a:t>Apply Colombia &amp; Chile best practices to new markets.</a:t>
            </a:r>
          </a:p>
          <a:p>
            <a:pPr marL="742950" lvl="1" indent="-285750">
              <a:buFont typeface="Arial" panose="020B0604020202020204" pitchFamily="34" charset="0"/>
              <a:buChar char="•"/>
            </a:pPr>
            <a:r>
              <a:rPr lang="en-SG" sz="2400" dirty="0"/>
              <a:t>Pre-stock Colombia &amp; Chile SKUs before </a:t>
            </a:r>
            <a:r>
              <a:rPr lang="en-SG" sz="2400" b="1" dirty="0"/>
              <a:t>Q4</a:t>
            </a:r>
            <a:r>
              <a:rPr lang="en-SG" sz="2400" dirty="0"/>
              <a:t>.</a:t>
            </a:r>
          </a:p>
          <a:p>
            <a:pPr marL="742950" lvl="1" indent="-285750">
              <a:buFont typeface="Arial" panose="020B0604020202020204" pitchFamily="34" charset="0"/>
              <a:buChar char="•"/>
            </a:pPr>
            <a:r>
              <a:rPr lang="en-SG" sz="2400" dirty="0"/>
              <a:t>Monitor </a:t>
            </a:r>
            <a:r>
              <a:rPr lang="en-SG" sz="2400" b="1" dirty="0"/>
              <a:t>shipping cost rate </a:t>
            </a:r>
            <a:r>
              <a:rPr lang="en-SG" sz="2400" dirty="0"/>
              <a:t>to keep it at current level.</a:t>
            </a:r>
          </a:p>
          <a:p>
            <a:pPr marL="742950" lvl="1" indent="-285750">
              <a:buFont typeface="Arial" panose="020B0604020202020204" pitchFamily="34" charset="0"/>
              <a:buChar char="•"/>
            </a:pPr>
            <a:endParaRPr lang="en-SG" sz="2800" dirty="0"/>
          </a:p>
          <a:p>
            <a:endParaRPr lang="en-SG" sz="3600" dirty="0"/>
          </a:p>
          <a:p>
            <a:endParaRPr lang="en-SG" sz="1600" dirty="0"/>
          </a:p>
          <a:p>
            <a:pPr marL="342900" indent="-342900" algn="l">
              <a:lnSpc>
                <a:spcPts val="2850"/>
              </a:lnSpc>
              <a:buSzPct val="100000"/>
              <a:buChar char="•"/>
            </a:pPr>
            <a:endParaRPr lang="en-US" sz="2400" dirty="0">
              <a:solidFill>
                <a:srgbClr val="2C2821"/>
              </a:solidFill>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7533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7760</TotalTime>
  <Words>1948</Words>
  <Application>Microsoft Office PowerPoint</Application>
  <PresentationFormat>Widescreen</PresentationFormat>
  <Paragraphs>126</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fkGroteskNeue</vt:lpstr>
      <vt:lpstr>Arial</vt:lpstr>
      <vt:lpstr>Calibri</vt:lpstr>
      <vt:lpstr>Calibri Light</vt:lpstr>
      <vt:lpstr>Lato</vt:lpstr>
      <vt:lpstr>Lucida Bright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ZHU ZIHAN</dc:creator>
  <cp:lastModifiedBy>ZHU ZIHAN</cp:lastModifiedBy>
  <cp:revision>115</cp:revision>
  <dcterms:created xsi:type="dcterms:W3CDTF">2025-10-29T07:47:00Z</dcterms:created>
  <dcterms:modified xsi:type="dcterms:W3CDTF">2025-11-12T12:28:30Z</dcterms:modified>
</cp:coreProperties>
</file>